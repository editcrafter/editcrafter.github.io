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3"/>
  </p:notesMasterIdLst>
  <p:sldIdLst>
    <p:sldId id="256" r:id="rId2"/>
  </p:sldIdLst>
  <p:sldSz cx="438912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6EA7"/>
    <a:srgbClr val="BB5757"/>
    <a:srgbClr val="FAFF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3" autoAdjust="0"/>
    <p:restoredTop sz="95833"/>
  </p:normalViewPr>
  <p:slideViewPr>
    <p:cSldViewPr snapToGrid="0">
      <p:cViewPr varScale="1">
        <p:scale>
          <a:sx n="37" d="100"/>
          <a:sy n="37" d="100"/>
        </p:scale>
        <p:origin x="3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84643-EC7A-4D08-B60C-9C71B93BFC1F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611EE-7BF9-4D88-9695-2E5C950EE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48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768788" rtl="0" eaLnBrk="1" latinLnBrk="1" hangingPunct="1">
      <a:defRPr sz="3633" kern="1200">
        <a:solidFill>
          <a:schemeClr val="tx1"/>
        </a:solidFill>
        <a:latin typeface="+mn-lt"/>
        <a:ea typeface="+mn-ea"/>
        <a:cs typeface="+mn-cs"/>
      </a:defRPr>
    </a:lvl1pPr>
    <a:lvl2pPr marL="1384389" algn="l" defTabSz="2768788" rtl="0" eaLnBrk="1" latinLnBrk="1" hangingPunct="1">
      <a:defRPr sz="3633" kern="1200">
        <a:solidFill>
          <a:schemeClr val="tx1"/>
        </a:solidFill>
        <a:latin typeface="+mn-lt"/>
        <a:ea typeface="+mn-ea"/>
        <a:cs typeface="+mn-cs"/>
      </a:defRPr>
    </a:lvl2pPr>
    <a:lvl3pPr marL="2768788" algn="l" defTabSz="2768788" rtl="0" eaLnBrk="1" latinLnBrk="1" hangingPunct="1">
      <a:defRPr sz="3633" kern="1200">
        <a:solidFill>
          <a:schemeClr val="tx1"/>
        </a:solidFill>
        <a:latin typeface="+mn-lt"/>
        <a:ea typeface="+mn-ea"/>
        <a:cs typeface="+mn-cs"/>
      </a:defRPr>
    </a:lvl3pPr>
    <a:lvl4pPr marL="4153177" algn="l" defTabSz="2768788" rtl="0" eaLnBrk="1" latinLnBrk="1" hangingPunct="1">
      <a:defRPr sz="3633" kern="1200">
        <a:solidFill>
          <a:schemeClr val="tx1"/>
        </a:solidFill>
        <a:latin typeface="+mn-lt"/>
        <a:ea typeface="+mn-ea"/>
        <a:cs typeface="+mn-cs"/>
      </a:defRPr>
    </a:lvl4pPr>
    <a:lvl5pPr marL="5537573" algn="l" defTabSz="2768788" rtl="0" eaLnBrk="1" latinLnBrk="1" hangingPunct="1">
      <a:defRPr sz="3633" kern="1200">
        <a:solidFill>
          <a:schemeClr val="tx1"/>
        </a:solidFill>
        <a:latin typeface="+mn-lt"/>
        <a:ea typeface="+mn-ea"/>
        <a:cs typeface="+mn-cs"/>
      </a:defRPr>
    </a:lvl5pPr>
    <a:lvl6pPr marL="6921968" algn="l" defTabSz="2768788" rtl="0" eaLnBrk="1" latinLnBrk="1" hangingPunct="1">
      <a:defRPr sz="3633" kern="1200">
        <a:solidFill>
          <a:schemeClr val="tx1"/>
        </a:solidFill>
        <a:latin typeface="+mn-lt"/>
        <a:ea typeface="+mn-ea"/>
        <a:cs typeface="+mn-cs"/>
      </a:defRPr>
    </a:lvl6pPr>
    <a:lvl7pPr marL="8306361" algn="l" defTabSz="2768788" rtl="0" eaLnBrk="1" latinLnBrk="1" hangingPunct="1">
      <a:defRPr sz="3633" kern="1200">
        <a:solidFill>
          <a:schemeClr val="tx1"/>
        </a:solidFill>
        <a:latin typeface="+mn-lt"/>
        <a:ea typeface="+mn-ea"/>
        <a:cs typeface="+mn-cs"/>
      </a:defRPr>
    </a:lvl7pPr>
    <a:lvl8pPr marL="9690756" algn="l" defTabSz="2768788" rtl="0" eaLnBrk="1" latinLnBrk="1" hangingPunct="1">
      <a:defRPr sz="3633" kern="1200">
        <a:solidFill>
          <a:schemeClr val="tx1"/>
        </a:solidFill>
        <a:latin typeface="+mn-lt"/>
        <a:ea typeface="+mn-ea"/>
        <a:cs typeface="+mn-cs"/>
      </a:defRPr>
    </a:lvl8pPr>
    <a:lvl9pPr marL="11075146" algn="l" defTabSz="2768788" rtl="0" eaLnBrk="1" latinLnBrk="1" hangingPunct="1">
      <a:defRPr sz="363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611EE-7BF9-4D88-9695-2E5C950EEDE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193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3591562"/>
            <a:ext cx="3291840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1526522"/>
            <a:ext cx="329184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572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186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5471163"/>
            <a:ext cx="3785616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4686283"/>
            <a:ext cx="3785616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66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5842000"/>
            <a:ext cx="18653760" cy="13924282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5842000"/>
            <a:ext cx="18653760" cy="13924282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851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168401"/>
            <a:ext cx="37856160" cy="4241802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5379722"/>
            <a:ext cx="18568033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8016240"/>
            <a:ext cx="18568033" cy="11790682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5379722"/>
            <a:ext cx="18659477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8016240"/>
            <a:ext cx="18659477" cy="11790682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62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38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22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463040"/>
            <a:ext cx="14156053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3159762"/>
            <a:ext cx="2221992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6583680"/>
            <a:ext cx="14156053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53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463040"/>
            <a:ext cx="14156053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3159762"/>
            <a:ext cx="2221992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6583680"/>
            <a:ext cx="14156053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31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36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168400"/>
            <a:ext cx="9464040" cy="18597882"/>
          </a:xfrm>
        </p:spPr>
        <p:txBody>
          <a:bodyPr vert="eaVert"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168400"/>
            <a:ext cx="27843480" cy="18597882"/>
          </a:xfrm>
        </p:spPr>
        <p:txBody>
          <a:bodyPr vert="eaVert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4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168401"/>
            <a:ext cx="3785616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5842000"/>
            <a:ext cx="3785616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0340322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1FB72-4C94-4C96-89A8-3629C5F9D10C}" type="datetimeFigureOut">
              <a:rPr lang="ko-KR" altLang="en-US" smtClean="0"/>
              <a:t>2026. 5. 20.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0340322"/>
            <a:ext cx="1481328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0340322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C06C50-99C9-456A-A8C6-A56A2E99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52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jpg"/><Relationship Id="rId18" Type="http://schemas.openxmlformats.org/officeDocument/2006/relationships/image" Target="../media/image15.jpg"/><Relationship Id="rId26" Type="http://schemas.openxmlformats.org/officeDocument/2006/relationships/image" Target="../media/image22.png"/><Relationship Id="rId39" Type="http://schemas.openxmlformats.org/officeDocument/2006/relationships/image" Target="../media/image35.jpg"/><Relationship Id="rId21" Type="http://schemas.openxmlformats.org/officeDocument/2006/relationships/image" Target="../media/image18.jpg"/><Relationship Id="rId34" Type="http://schemas.openxmlformats.org/officeDocument/2006/relationships/image" Target="../media/image30.png"/><Relationship Id="rId42" Type="http://schemas.openxmlformats.org/officeDocument/2006/relationships/image" Target="../media/image40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jpg"/><Relationship Id="rId20" Type="http://schemas.openxmlformats.org/officeDocument/2006/relationships/image" Target="../media/image17.jpg"/><Relationship Id="rId29" Type="http://schemas.openxmlformats.org/officeDocument/2006/relationships/image" Target="../media/image25.jpg"/><Relationship Id="rId41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8.jpg"/><Relationship Id="rId24" Type="http://schemas.openxmlformats.org/officeDocument/2006/relationships/image" Target="../media/image21.png"/><Relationship Id="rId32" Type="http://schemas.openxmlformats.org/officeDocument/2006/relationships/image" Target="../media/image26.png"/><Relationship Id="rId37" Type="http://schemas.openxmlformats.org/officeDocument/2006/relationships/image" Target="../media/image33.png"/><Relationship Id="rId40" Type="http://schemas.openxmlformats.org/officeDocument/2006/relationships/image" Target="../media/image37.png"/><Relationship Id="rId5" Type="http://schemas.openxmlformats.org/officeDocument/2006/relationships/image" Target="../media/image3.png"/><Relationship Id="rId15" Type="http://schemas.openxmlformats.org/officeDocument/2006/relationships/image" Target="../media/image12.jpg"/><Relationship Id="rId23" Type="http://schemas.openxmlformats.org/officeDocument/2006/relationships/image" Target="../media/image19.jpg"/><Relationship Id="rId28" Type="http://schemas.openxmlformats.org/officeDocument/2006/relationships/image" Target="../media/image24.jpg"/><Relationship Id="rId36" Type="http://schemas.openxmlformats.org/officeDocument/2006/relationships/image" Target="../media/image32.png"/><Relationship Id="rId10" Type="http://schemas.openxmlformats.org/officeDocument/2006/relationships/image" Target="../media/image7.png"/><Relationship Id="rId19" Type="http://schemas.openxmlformats.org/officeDocument/2006/relationships/image" Target="../media/image16.jpg"/><Relationship Id="rId31" Type="http://schemas.openxmlformats.org/officeDocument/2006/relationships/image" Target="../media/image29.png"/><Relationship Id="rId44" Type="http://schemas.openxmlformats.org/officeDocument/2006/relationships/image" Target="../media/image36.jpe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1.jpg"/><Relationship Id="rId22" Type="http://schemas.openxmlformats.org/officeDocument/2006/relationships/image" Target="../media/image19.png"/><Relationship Id="rId27" Type="http://schemas.openxmlformats.org/officeDocument/2006/relationships/image" Target="../media/image23.jpg"/><Relationship Id="rId30" Type="http://schemas.openxmlformats.org/officeDocument/2006/relationships/image" Target="../media/image28.png"/><Relationship Id="rId35" Type="http://schemas.openxmlformats.org/officeDocument/2006/relationships/image" Target="../media/image31.png"/><Relationship Id="rId43" Type="http://schemas.openxmlformats.org/officeDocument/2006/relationships/image" Target="../media/image41.png"/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12" Type="http://schemas.openxmlformats.org/officeDocument/2006/relationships/image" Target="../media/image9.jpg"/><Relationship Id="rId17" Type="http://schemas.openxmlformats.org/officeDocument/2006/relationships/image" Target="../media/image14.jpg"/><Relationship Id="rId25" Type="http://schemas.openxmlformats.org/officeDocument/2006/relationships/image" Target="../media/image20.png"/><Relationship Id="rId33" Type="http://schemas.openxmlformats.org/officeDocument/2006/relationships/image" Target="../media/image27.png"/><Relationship Id="rId38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83677428-1386-AB84-24BE-FE9B5B441A2B}"/>
              </a:ext>
            </a:extLst>
          </p:cNvPr>
          <p:cNvSpPr/>
          <p:nvPr/>
        </p:nvSpPr>
        <p:spPr>
          <a:xfrm>
            <a:off x="332839" y="3046509"/>
            <a:ext cx="14043529" cy="9107098"/>
          </a:xfrm>
          <a:prstGeom prst="roundRect">
            <a:avLst>
              <a:gd name="adj" fmla="val 522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672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7FAE9B-02F3-84DC-345D-63A1330D3A08}"/>
              </a:ext>
            </a:extLst>
          </p:cNvPr>
          <p:cNvSpPr/>
          <p:nvPr/>
        </p:nvSpPr>
        <p:spPr>
          <a:xfrm>
            <a:off x="8921465" y="177382"/>
            <a:ext cx="26917451" cy="1509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err="1">
                <a:solidFill>
                  <a:schemeClr val="tx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EditCrafter</a:t>
            </a:r>
            <a:r>
              <a:rPr lang="en-US" sz="5400" b="1" dirty="0">
                <a:solidFill>
                  <a:schemeClr val="tx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: Tuning-free High-Resolution Image Editing via Pretrained Diffusion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FF8819-E41D-BD3F-2934-65C38E649E93}"/>
                  </a:ext>
                </a:extLst>
              </p:cNvPr>
              <p:cNvSpPr/>
              <p:nvPr/>
            </p:nvSpPr>
            <p:spPr>
              <a:xfrm>
                <a:off x="13586363" y="1550582"/>
                <a:ext cx="16626506" cy="77905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4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Source Sans Pro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Kunho</m:t>
                        </m:r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Kim</m:t>
                        </m:r>
                      </m:e>
                      <m:sup>
                        <m:r>
                          <a:rPr lang="en-US" sz="4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Source Sans Pro" panose="020F0502020204030204" pitchFamily="34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4200" dirty="0">
                    <a:solidFill>
                      <a:schemeClr val="tx1"/>
                    </a:solidFill>
                    <a:latin typeface="+mj-lt"/>
                    <a:ea typeface="Roboto" panose="02000000000000000000" pitchFamily="2" charset="0"/>
                    <a:cs typeface="Roboto" panose="02000000000000000000" pitchFamily="2" charset="0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Source Sans Pro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Sumin</m:t>
                        </m:r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Seo</m:t>
                        </m:r>
                      </m:e>
                      <m:sup>
                        <m:r>
                          <a:rPr lang="en-US" sz="4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Source Sans Pro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200" dirty="0">
                    <a:solidFill>
                      <a:schemeClr val="tx1"/>
                    </a:solidFill>
                    <a:latin typeface="+mj-lt"/>
                    <a:ea typeface="Roboto" panose="02000000000000000000" pitchFamily="2" charset="0"/>
                    <a:cs typeface="Roboto" panose="02000000000000000000" pitchFamily="2" charset="0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Source Sans Pro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Yongjun</m:t>
                        </m:r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Cho</m:t>
                        </m:r>
                      </m:e>
                      <m:sup>
                        <m:r>
                          <a:rPr lang="en-US" sz="4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Source Sans Pro" panose="020F050202020403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4200" dirty="0">
                    <a:solidFill>
                      <a:schemeClr val="tx1"/>
                    </a:solidFill>
                    <a:latin typeface="+mj-lt"/>
                    <a:ea typeface="Roboto" panose="02000000000000000000" pitchFamily="2" charset="0"/>
                    <a:cs typeface="Roboto" panose="02000000000000000000" pitchFamily="2" charset="0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Source Sans Pro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Hyungjin</m:t>
                        </m:r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200" dirty="0">
                            <a:solidFill>
                              <a:schemeClr val="tx1"/>
                            </a:solidFill>
                            <a:latin typeface="+mj-lt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Chung</m:t>
                        </m:r>
                      </m:e>
                      <m:sup>
                        <m:r>
                          <a:rPr lang="en-US" sz="4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  <a:cs typeface="Source Sans Pro" panose="020F0502020204030204" pitchFamily="34" charset="0"/>
                          </a:rPr>
                          <m:t>4</m:t>
                        </m:r>
                      </m:sup>
                    </m:sSup>
                    <m:r>
                      <a:rPr lang="en-US" sz="4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  <a:cs typeface="Source Sans Pro" panose="020F0502020204030204" pitchFamily="34" charset="0"/>
                      </a:rPr>
                      <m:t> </m:t>
                    </m:r>
                  </m:oMath>
                </a14:m>
                <a:endParaRPr lang="en-US" sz="4200" dirty="0">
                  <a:solidFill>
                    <a:schemeClr val="tx1"/>
                  </a:solidFill>
                  <a:latin typeface="+mj-lt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FF8819-E41D-BD3F-2934-65C38E649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6363" y="1550582"/>
                <a:ext cx="16626506" cy="779057"/>
              </a:xfrm>
              <a:prstGeom prst="rect">
                <a:avLst/>
              </a:prstGeom>
              <a:blipFill>
                <a:blip r:embed="rId3"/>
                <a:stretch>
                  <a:fillRect t="-7937" b="-253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D5BC111-262F-BA3E-54ED-1CBC395476FE}"/>
              </a:ext>
            </a:extLst>
          </p:cNvPr>
          <p:cNvSpPr txBox="1"/>
          <p:nvPr/>
        </p:nvSpPr>
        <p:spPr>
          <a:xfrm>
            <a:off x="121175" y="95730"/>
            <a:ext cx="460912" cy="6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KR" sz="3658" b="1" dirty="0"/>
              <a:t>1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32DAF21-CBD7-6E0E-7AF8-A9651E5F701B}"/>
              </a:ext>
            </a:extLst>
          </p:cNvPr>
          <p:cNvSpPr/>
          <p:nvPr/>
        </p:nvSpPr>
        <p:spPr>
          <a:xfrm>
            <a:off x="14911811" y="3046512"/>
            <a:ext cx="14043529" cy="18811500"/>
          </a:xfrm>
          <a:prstGeom prst="roundRect">
            <a:avLst>
              <a:gd name="adj" fmla="val 28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6721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5472327-1099-E0C9-8531-2C12F152C8FE}"/>
              </a:ext>
            </a:extLst>
          </p:cNvPr>
          <p:cNvSpPr/>
          <p:nvPr/>
        </p:nvSpPr>
        <p:spPr>
          <a:xfrm>
            <a:off x="29490784" y="3046514"/>
            <a:ext cx="14043529" cy="17057177"/>
          </a:xfrm>
          <a:prstGeom prst="roundRect">
            <a:avLst>
              <a:gd name="adj" fmla="val 28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6721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F1A1CE5-0D13-BA08-E9E6-B700640C992F}"/>
              </a:ext>
            </a:extLst>
          </p:cNvPr>
          <p:cNvSpPr/>
          <p:nvPr/>
        </p:nvSpPr>
        <p:spPr>
          <a:xfrm>
            <a:off x="332839" y="2701080"/>
            <a:ext cx="14043529" cy="779057"/>
          </a:xfrm>
          <a:prstGeom prst="roundRect">
            <a:avLst>
              <a:gd name="adj" fmla="val 1891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Motivation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5F5095F-9DB2-ACFA-008E-F56B968AAC29}"/>
              </a:ext>
            </a:extLst>
          </p:cNvPr>
          <p:cNvSpPr/>
          <p:nvPr/>
        </p:nvSpPr>
        <p:spPr>
          <a:xfrm>
            <a:off x="14911811" y="2701080"/>
            <a:ext cx="14043529" cy="779057"/>
          </a:xfrm>
          <a:prstGeom prst="roundRect">
            <a:avLst>
              <a:gd name="adj" fmla="val 154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EditCrafter</a:t>
            </a:r>
            <a:r>
              <a:rPr lang="en-US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Pipeline</a:t>
            </a:r>
            <a:endParaRPr lang="en-KR" sz="36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0EBFD9-0E47-C7EE-56AB-7F35D4509ED4}"/>
              </a:ext>
            </a:extLst>
          </p:cNvPr>
          <p:cNvSpPr/>
          <p:nvPr/>
        </p:nvSpPr>
        <p:spPr>
          <a:xfrm>
            <a:off x="356891" y="3485027"/>
            <a:ext cx="13995822" cy="7790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ore-KR" sz="3200" b="1" dirty="0">
                <a:solidFill>
                  <a:schemeClr val="tx1"/>
                </a:solidFill>
              </a:rPr>
              <a:t>Problem: Editing resolution is still the bottleneck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C8C94AB9-9B06-FC8E-B776-CF6EA5E291DA}"/>
              </a:ext>
            </a:extLst>
          </p:cNvPr>
          <p:cNvSpPr/>
          <p:nvPr/>
        </p:nvSpPr>
        <p:spPr>
          <a:xfrm>
            <a:off x="317505" y="12750914"/>
            <a:ext cx="14043529" cy="9107098"/>
          </a:xfrm>
          <a:prstGeom prst="roundRect">
            <a:avLst>
              <a:gd name="adj" fmla="val 522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6721"/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89D15FB9-95B6-3595-16BD-FA5376474C2E}"/>
              </a:ext>
            </a:extLst>
          </p:cNvPr>
          <p:cNvSpPr/>
          <p:nvPr/>
        </p:nvSpPr>
        <p:spPr>
          <a:xfrm>
            <a:off x="317505" y="12395205"/>
            <a:ext cx="14043529" cy="779057"/>
          </a:xfrm>
          <a:prstGeom prst="roundRect">
            <a:avLst>
              <a:gd name="adj" fmla="val 1891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</a:t>
            </a:r>
            <a:endParaRPr lang="en-KR" sz="36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22F310E5-1DA7-3220-0D84-63D997EA4292}"/>
              </a:ext>
            </a:extLst>
          </p:cNvPr>
          <p:cNvSpPr/>
          <p:nvPr/>
        </p:nvSpPr>
        <p:spPr>
          <a:xfrm>
            <a:off x="35521112" y="2159117"/>
            <a:ext cx="2010852" cy="4604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>
                <a:solidFill>
                  <a:schemeClr val="tx1"/>
                </a:solidFill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Project </a:t>
            </a:r>
            <a:r>
              <a:rPr lang="en-KR" sz="2400" dirty="0">
                <a:solidFill>
                  <a:schemeClr val="tx1"/>
                </a:solidFill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Page 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8BA1FC0D-C48B-F90B-6BF2-1939EE541857}"/>
              </a:ext>
            </a:extLst>
          </p:cNvPr>
          <p:cNvSpPr txBox="1"/>
          <p:nvPr/>
        </p:nvSpPr>
        <p:spPr>
          <a:xfrm>
            <a:off x="2417666" y="95730"/>
            <a:ext cx="460912" cy="6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KR" sz="3658" b="1" dirty="0"/>
              <a:t>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20E0BBC-D88E-4FF0-EF96-2B0F60A248A4}"/>
              </a:ext>
            </a:extLst>
          </p:cNvPr>
          <p:cNvSpPr txBox="1"/>
          <p:nvPr/>
        </p:nvSpPr>
        <p:spPr>
          <a:xfrm>
            <a:off x="4714157" y="95730"/>
            <a:ext cx="460912" cy="6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KR" sz="3658" b="1" dirty="0"/>
              <a:t>3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AD092C6-B9D1-5BA8-C8F5-1B2981DA7D52}"/>
              </a:ext>
            </a:extLst>
          </p:cNvPr>
          <p:cNvSpPr txBox="1"/>
          <p:nvPr/>
        </p:nvSpPr>
        <p:spPr>
          <a:xfrm>
            <a:off x="7010645" y="95730"/>
            <a:ext cx="460912" cy="6552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KR" sz="3658" b="1" dirty="0"/>
              <a:t>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EF522A5-68EA-C0AC-3C20-77ECA82C98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495" y="363125"/>
            <a:ext cx="1997020" cy="19970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0EF26BF-8152-7A59-D511-AF110250FD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7367" y="140255"/>
            <a:ext cx="6595656" cy="232069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DD62BC3E-164A-FEBD-3B03-0D276BEAD8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0223" y="465393"/>
            <a:ext cx="1295930" cy="1408619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1B870B0F-D0D9-0BE6-5192-6D620DDDC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9357" y="368366"/>
            <a:ext cx="1440000" cy="1440000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399FEC6-6141-A52B-0A9B-13AEC1ECC2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1101" y="1074655"/>
            <a:ext cx="2007993" cy="543115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DD472565-57B3-6D07-0E01-B8EE4026CE11}"/>
              </a:ext>
            </a:extLst>
          </p:cNvPr>
          <p:cNvGrpSpPr/>
          <p:nvPr/>
        </p:nvGrpSpPr>
        <p:grpSpPr>
          <a:xfrm>
            <a:off x="35545236" y="149356"/>
            <a:ext cx="1920212" cy="1920212"/>
            <a:chOff x="11877452" y="99405"/>
            <a:chExt cx="630000" cy="630000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6E01877B-866E-6D4C-3088-61709BBCEA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877452" y="99405"/>
              <a:ext cx="630000" cy="630000"/>
            </a:xfrm>
            <a:prstGeom prst="rect">
              <a:avLst/>
            </a:prstGeom>
          </p:spPr>
        </p:pic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D132D887-EBBF-E094-C2E4-22FE1435CE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878961" y="99405"/>
              <a:ext cx="628147" cy="630000"/>
            </a:xfrm>
            <a:prstGeom prst="roundRect">
              <a:avLst>
                <a:gd name="adj" fmla="val 4857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6721"/>
            </a:p>
          </p:txBody>
        </p:sp>
      </p:grpSp>
      <p:sp>
        <p:nvSpPr>
          <p:cNvPr id="28" name="Rectangle 192">
            <a:extLst>
              <a:ext uri="{FF2B5EF4-FFF2-40B4-BE49-F238E27FC236}">
                <a16:creationId xmlns:a16="http://schemas.microsoft.com/office/drawing/2014/main" id="{B3019B9D-1781-6CD4-4201-0444303025F7}"/>
              </a:ext>
            </a:extLst>
          </p:cNvPr>
          <p:cNvSpPr/>
          <p:nvPr/>
        </p:nvSpPr>
        <p:spPr>
          <a:xfrm>
            <a:off x="2519972" y="2034928"/>
            <a:ext cx="2424645" cy="4035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dirty="0" err="1">
                <a:solidFill>
                  <a:schemeClr val="bg1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medi</a:t>
            </a:r>
            <a:r>
              <a:rPr lang="en-US" sz="3400" dirty="0" err="1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pixel</a:t>
            </a:r>
            <a:r>
              <a:rPr lang="en-US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KR" sz="3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884AE06E-9152-934E-C09F-7CB2FDA35353}"/>
              </a:ext>
            </a:extLst>
          </p:cNvPr>
          <p:cNvSpPr/>
          <p:nvPr/>
        </p:nvSpPr>
        <p:spPr>
          <a:xfrm>
            <a:off x="356889" y="4281876"/>
            <a:ext cx="13990114" cy="1849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22580" indent="-52258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Diffusion based editing methods inherit the </a:t>
            </a:r>
            <a:r>
              <a:rPr lang="en-US" sz="2400" b="1" dirty="0">
                <a:solidFill>
                  <a:schemeClr val="tx1"/>
                </a:solidFill>
              </a:rPr>
              <a:t>512×512 / 1024</a:t>
            </a:r>
            <a:r>
              <a:rPr lang="en-US" altLang="ko-Kore-KR" sz="2400" b="1" dirty="0">
                <a:solidFill>
                  <a:schemeClr val="tx1"/>
                </a:solidFill>
              </a:rPr>
              <a:t>×</a:t>
            </a:r>
            <a:r>
              <a:rPr lang="en-US" sz="2400" b="1" dirty="0">
                <a:solidFill>
                  <a:schemeClr val="tx1"/>
                </a:solidFill>
              </a:rPr>
              <a:t>1024 training resolution limit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</a:p>
          <a:p>
            <a:pPr marL="522580" indent="-52258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Real applications need arbitrary aspect ratios and 2K ~ 4K outputs with fine detail preservation.</a:t>
            </a:r>
          </a:p>
          <a:p>
            <a:pPr marL="522580" indent="-52258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Naïve patch-wise editing </a:t>
            </a:r>
            <a:r>
              <a:rPr lang="en-US" sz="2400" dirty="0">
                <a:solidFill>
                  <a:schemeClr val="tx1"/>
                </a:solidFill>
              </a:rPr>
              <a:t>breaks global structure, causing seams and </a:t>
            </a:r>
            <a:r>
              <a:rPr lang="en-US" sz="2400" b="1" u="sng" dirty="0">
                <a:solidFill>
                  <a:schemeClr val="tx1"/>
                </a:solidFill>
              </a:rPr>
              <a:t>object repetitions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marL="522580" indent="-522580">
              <a:buFont typeface="Arial" panose="020B0604020202020204" pitchFamily="34" charset="0"/>
              <a:buChar char="•"/>
            </a:pPr>
            <a:r>
              <a:rPr lang="en-US" altLang="ko-Kore-KR" sz="2400" dirty="0">
                <a:solidFill>
                  <a:schemeClr val="tx1"/>
                </a:solidFill>
              </a:rPr>
              <a:t>Beyond image generation, there has been an emergence of high-resolution image generation</a:t>
            </a:r>
            <a:r>
              <a:rPr lang="en-KR" altLang="ko-Kore-KR" sz="2400" b="1">
                <a:solidFill>
                  <a:schemeClr val="tx1"/>
                </a:solidFill>
              </a:rPr>
              <a:t>.</a:t>
            </a:r>
            <a:br>
              <a:rPr lang="en-US" altLang="ko-Kore-KR" sz="2400" b="1" dirty="0">
                <a:solidFill>
                  <a:schemeClr val="tx1"/>
                </a:solidFill>
              </a:rPr>
            </a:br>
            <a:r>
              <a:rPr lang="en-US" altLang="ko-Kore-KR" sz="2400" dirty="0">
                <a:solidFill>
                  <a:schemeClr val="tx1"/>
                </a:solidFill>
              </a:rPr>
              <a:t>Nevertheless, the field of high-resolution image editing remains relatively underexplored.</a:t>
            </a:r>
          </a:p>
        </p:txBody>
      </p:sp>
      <p:sp>
        <p:nvSpPr>
          <p:cNvPr id="14" name="Rectangle 23">
            <a:extLst>
              <a:ext uri="{FF2B5EF4-FFF2-40B4-BE49-F238E27FC236}">
                <a16:creationId xmlns:a16="http://schemas.microsoft.com/office/drawing/2014/main" id="{0C083BCE-1154-9F33-945E-995C280526BD}"/>
              </a:ext>
            </a:extLst>
          </p:cNvPr>
          <p:cNvSpPr/>
          <p:nvPr/>
        </p:nvSpPr>
        <p:spPr>
          <a:xfrm>
            <a:off x="341504" y="13167485"/>
            <a:ext cx="13995822" cy="12859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ore-KR" sz="3200" b="1" dirty="0">
                <a:solidFill>
                  <a:schemeClr val="tx1"/>
                </a:solidFill>
              </a:rPr>
              <a:t>1. How can we invert a high-resolution image into a latent using </a:t>
            </a:r>
            <a:br>
              <a:rPr lang="en-US" altLang="ko-Kore-KR" sz="3200" b="1" dirty="0">
                <a:solidFill>
                  <a:schemeClr val="tx1"/>
                </a:solidFill>
              </a:rPr>
            </a:br>
            <a:r>
              <a:rPr lang="en-US" altLang="ko-Kore-KR" sz="3200" b="1" dirty="0">
                <a:solidFill>
                  <a:schemeClr val="tx1"/>
                </a:solidFill>
              </a:rPr>
              <a:t>a fixed-size pretrained diffusion model?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B130CEBD-EA61-1570-CF39-7E480E96D088}"/>
              </a:ext>
            </a:extLst>
          </p:cNvPr>
          <p:cNvSpPr/>
          <p:nvPr/>
        </p:nvSpPr>
        <p:spPr>
          <a:xfrm>
            <a:off x="14941989" y="3485027"/>
            <a:ext cx="13995822" cy="7790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ore-KR" sz="3200" b="1" dirty="0">
                <a:solidFill>
                  <a:schemeClr val="tx1"/>
                </a:solidFill>
              </a:rPr>
              <a:t>Make a fixed resolution generator act as a high-resolution editor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23">
                <a:extLst>
                  <a:ext uri="{FF2B5EF4-FFF2-40B4-BE49-F238E27FC236}">
                    <a16:creationId xmlns:a16="http://schemas.microsoft.com/office/drawing/2014/main" id="{725FA9BD-2F7A-EF88-C65A-03A7996D3EB7}"/>
                  </a:ext>
                </a:extLst>
              </p:cNvPr>
              <p:cNvSpPr/>
              <p:nvPr/>
            </p:nvSpPr>
            <p:spPr>
              <a:xfrm>
                <a:off x="14941987" y="7552280"/>
                <a:ext cx="13990114" cy="820258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/>
              <a:lstStyle/>
              <a:p>
                <a:r>
                  <a:rPr lang="en" sz="2800" b="1" dirty="0">
                    <a:solidFill>
                      <a:schemeClr val="tx1"/>
                    </a:solidFill>
                  </a:rPr>
                  <a:t> Tiled DDIM Inversion</a:t>
                </a:r>
                <a:endParaRPr lang="en" sz="2400" b="1" dirty="0">
                  <a:solidFill>
                    <a:schemeClr val="tx1"/>
                  </a:solidFill>
                </a:endParaRPr>
              </a:p>
              <a:p>
                <a:endParaRPr lang="en" sz="1600" dirty="0">
                  <a:solidFill>
                    <a:schemeClr val="tx1"/>
                  </a:solidFill>
                </a:endParaRPr>
              </a:p>
              <a:p>
                <a:r>
                  <a:rPr lang="en" sz="2400" dirty="0">
                    <a:solidFill>
                      <a:schemeClr val="tx1"/>
                    </a:solidFill>
                  </a:rPr>
                  <a:t> ① Split high-resolution image </a:t>
                </a:r>
                <a14:m>
                  <m:oMath xmlns:m="http://schemas.openxmlformats.org/officeDocument/2006/math">
                    <m:r>
                      <a:rPr lang="e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₀</m:t>
                    </m:r>
                  </m:oMath>
                </a14:m>
                <a:r>
                  <a:rPr lang="en" sz="2400" dirty="0">
                    <a:solidFill>
                      <a:schemeClr val="tx1"/>
                    </a:solidFill>
                  </a:rPr>
                  <a:t> into non-overlapping tiles </a:t>
                </a:r>
                <a14:m>
                  <m:oMath xmlns:m="http://schemas.openxmlformats.org/officeDocument/2006/math">
                    <m:r>
                      <a:rPr lang="e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" sz="2400" dirty="0">
                    <a:solidFill>
                      <a:schemeClr val="tx1"/>
                    </a:solidFill>
                  </a:rPr>
                  <a:t> matching the T2I diffusion model’s training resolution.</a:t>
                </a:r>
              </a:p>
              <a:p>
                <a:r>
                  <a:rPr lang="en" sz="2400" dirty="0">
                    <a:solidFill>
                      <a:schemeClr val="tx1"/>
                    </a:solidFill>
                  </a:rPr>
                  <a:t> ② Invert each tile independently with guidance scale 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l-GR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l-GR" sz="2400" dirty="0">
                    <a:solidFill>
                      <a:schemeClr val="tx1"/>
                    </a:solidFill>
                  </a:rPr>
                  <a:t> (</a:t>
                </a:r>
                <a:r>
                  <a:rPr lang="en" sz="2400" dirty="0">
                    <a:solidFill>
                      <a:schemeClr val="tx1"/>
                    </a:solidFill>
                  </a:rPr>
                  <a:t>no text conditioning)</a:t>
                </a:r>
              </a:p>
              <a:p>
                <a:r>
                  <a:rPr lang="en" sz="2400" dirty="0">
                    <a:solidFill>
                      <a:schemeClr val="tx1"/>
                    </a:solidFill>
                  </a:rPr>
                  <a:t>    → avoids prompt–patch mismatch that arises from partial object content.</a:t>
                </a:r>
              </a:p>
              <a:p>
                <a:r>
                  <a:rPr lang="en" sz="2400" dirty="0">
                    <a:solidFill>
                      <a:schemeClr val="tx1"/>
                    </a:solidFill>
                  </a:rPr>
                  <a:t> ③ Concatenate the per-tile inverted </a:t>
                </a:r>
                <a:r>
                  <a:rPr lang="en" sz="2400" dirty="0" err="1">
                    <a:solidFill>
                      <a:schemeClr val="tx1"/>
                    </a:solidFill>
                  </a:rPr>
                  <a:t>latents</a:t>
                </a:r>
                <a:r>
                  <a:rPr lang="en" sz="2400" dirty="0">
                    <a:solidFill>
                      <a:schemeClr val="tx1"/>
                    </a:solidFill>
                  </a:rPr>
                  <a:t> to form edit-friendly high-resolution latent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ore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" altLang="ko-Kore-K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ore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ko-Kore-KR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" sz="1600" dirty="0">
                  <a:solidFill>
                    <a:schemeClr val="tx1"/>
                  </a:solidFill>
                </a:endParaRPr>
              </a:p>
              <a:p>
                <a:r>
                  <a:rPr lang="en" sz="2400" dirty="0">
                    <a:solidFill>
                      <a:schemeClr val="tx1"/>
                    </a:solidFill>
                    <a:sym typeface="Wingdings" pitchFamily="2" charset="2"/>
                  </a:rPr>
                  <a:t> </a:t>
                </a:r>
                <a:r>
                  <a:rPr lang="en" altLang="ko-Kore-KR" sz="2400" b="1" dirty="0">
                    <a:solidFill>
                      <a:prstClr val="black"/>
                    </a:solidFill>
                  </a:rPr>
                  <a:t>Tiled text-guidance-free inversion</a:t>
                </a:r>
                <a:r>
                  <a:rPr lang="el-GR" altLang="ko-Kore-KR" sz="2400" b="1" dirty="0">
                    <a:solidFill>
                      <a:prstClr val="black"/>
                    </a:solidFill>
                  </a:rPr>
                  <a:t> </a:t>
                </a:r>
                <a:r>
                  <a:rPr lang="en" altLang="ko-Kore-KR" sz="2400" b="1" dirty="0">
                    <a:solidFill>
                      <a:prstClr val="black"/>
                    </a:solidFill>
                  </a:rPr>
                  <a:t>preserves identity of the original input image.</a:t>
                </a:r>
                <a:endParaRPr lang="en" sz="2400" dirty="0">
                  <a:solidFill>
                    <a:schemeClr val="tx1"/>
                  </a:solidFill>
                </a:endParaRPr>
              </a:p>
              <a:p>
                <a:endParaRPr lang="en" sz="2400" dirty="0">
                  <a:solidFill>
                    <a:schemeClr val="tx1"/>
                  </a:solidFill>
                </a:endParaRPr>
              </a:p>
              <a:p>
                <a:r>
                  <a:rPr lang="en" sz="2800" b="1" dirty="0">
                    <a:solidFill>
                      <a:schemeClr val="tx1"/>
                    </a:solidFill>
                  </a:rPr>
                  <a:t> High-Resolution Reverse Diffusion with NDCFG++</a:t>
                </a:r>
                <a:endParaRPr lang="en" sz="2400" b="1" dirty="0">
                  <a:solidFill>
                    <a:schemeClr val="tx1"/>
                  </a:solidFill>
                </a:endParaRPr>
              </a:p>
              <a:p>
                <a:endParaRPr lang="en" sz="1600" dirty="0">
                  <a:solidFill>
                    <a:schemeClr val="tx1"/>
                  </a:solidFill>
                </a:endParaRPr>
              </a:p>
              <a:p>
                <a:r>
                  <a:rPr lang="en" sz="2400" dirty="0">
                    <a:solidFill>
                      <a:schemeClr val="tx1"/>
                    </a:solidFill>
                  </a:rPr>
                  <a:t> ① Adopt re-dilated convolutions throughout U-Net to expand the receptive field for higher-resolution </a:t>
                </a:r>
                <a:r>
                  <a:rPr lang="en" sz="2400" dirty="0" err="1">
                    <a:solidFill>
                      <a:schemeClr val="tx1"/>
                    </a:solidFill>
                  </a:rPr>
                  <a:t>latents</a:t>
                </a:r>
                <a:r>
                  <a:rPr lang="en" sz="2400" dirty="0">
                    <a:solidFill>
                      <a:schemeClr val="tx1"/>
                    </a:solidFill>
                  </a:rPr>
                  <a:t> while reusing pretrained parameters.</a:t>
                </a:r>
              </a:p>
              <a:p>
                <a:r>
                  <a:rPr lang="en" sz="2400" b="1" dirty="0">
                    <a:solidFill>
                      <a:schemeClr val="tx1"/>
                    </a:solidFill>
                  </a:rPr>
                  <a:t> ② </a:t>
                </a:r>
                <a:r>
                  <a:rPr lang="en" sz="2400" dirty="0">
                    <a:solidFill>
                      <a:schemeClr val="tx1"/>
                    </a:solidFill>
                  </a:rPr>
                  <a:t>Manifold-Constrained Noise-Damped CFG (NDCFG++):</a:t>
                </a:r>
              </a:p>
              <a:p>
                <a:r>
                  <a:rPr lang="en" sz="2400" dirty="0">
                    <a:solidFill>
                      <a:schemeClr val="tx1"/>
                    </a:solidFill>
                  </a:rPr>
                  <a:t>    • Small guidance scale 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∈ [0, 1]</m:t>
                    </m:r>
                  </m:oMath>
                </a14:m>
                <a:r>
                  <a:rPr lang="el-GR" sz="2400" dirty="0">
                    <a:solidFill>
                      <a:schemeClr val="tx1"/>
                    </a:solidFill>
                  </a:rPr>
                  <a:t> — </a:t>
                </a:r>
                <a:r>
                  <a:rPr lang="en" sz="2400" dirty="0">
                    <a:solidFill>
                      <a:schemeClr val="tx1"/>
                    </a:solidFill>
                  </a:rPr>
                  <a:t>interpolation (stays on manifold)</a:t>
                </a:r>
              </a:p>
              <a:p>
                <a:r>
                  <a:rPr lang="en" sz="2400" dirty="0">
                    <a:solidFill>
                      <a:schemeClr val="tx1"/>
                    </a:solidFill>
                  </a:rPr>
                  <a:t>      vs. NDCFG's large 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l-GR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≥ 1</m:t>
                    </m:r>
                  </m:oMath>
                </a14:m>
                <a:r>
                  <a:rPr lang="el-GR" sz="2400" dirty="0">
                    <a:solidFill>
                      <a:schemeClr val="tx1"/>
                    </a:solidFill>
                  </a:rPr>
                  <a:t> — </a:t>
                </a:r>
                <a:r>
                  <a:rPr lang="en" sz="2400" dirty="0">
                    <a:solidFill>
                      <a:schemeClr val="tx1"/>
                    </a:solidFill>
                  </a:rPr>
                  <a:t>extrapolation (may deviate).</a:t>
                </a:r>
              </a:p>
              <a:p>
                <a:r>
                  <a:rPr lang="en" sz="2400" dirty="0">
                    <a:solidFill>
                      <a:schemeClr val="tx1"/>
                    </a:solidFill>
                  </a:rPr>
                  <a:t>    • </a:t>
                </a:r>
                <a:r>
                  <a:rPr lang="en" sz="2400" dirty="0" err="1">
                    <a:solidFill>
                      <a:schemeClr val="tx1"/>
                    </a:solidFill>
                  </a:rPr>
                  <a:t>Renoising</a:t>
                </a:r>
                <a:r>
                  <a:rPr lang="en" sz="2400" dirty="0">
                    <a:solidFill>
                      <a:schemeClr val="tx1"/>
                    </a:solidFill>
                  </a:rPr>
                  <a:t> with vanilla noise estimator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l-GR" altLang="ko-Kore-KR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l-GR" sz="2400" dirty="0">
                    <a:solidFill>
                      <a:schemeClr val="tx1"/>
                    </a:solidFill>
                  </a:rPr>
                  <a:t> → </a:t>
                </a:r>
                <a:r>
                  <a:rPr lang="en" sz="2400" dirty="0">
                    <a:solidFill>
                      <a:schemeClr val="tx1"/>
                    </a:solidFill>
                  </a:rPr>
                  <a:t>smoother editing trajectory.</a:t>
                </a:r>
              </a:p>
              <a:p>
                <a:r>
                  <a:rPr lang="en" sz="2400" dirty="0">
                    <a:solidFill>
                      <a:schemeClr val="tx1"/>
                    </a:solidFill>
                  </a:rPr>
                  <a:t>    • Applied for initial timesteps </a:t>
                </a:r>
                <a14:m>
                  <m:oMath xmlns:m="http://schemas.openxmlformats.org/officeDocument/2006/math">
                    <m:r>
                      <a:rPr lang="e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l-GR" sz="24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l-GR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>
                    <a:solidFill>
                      <a:schemeClr val="tx1"/>
                    </a:solidFill>
                  </a:rPr>
                  <a:t>; </a:t>
                </a:r>
                <a:r>
                  <a:rPr lang="en" sz="2400" dirty="0">
                    <a:solidFill>
                      <a:schemeClr val="tx1"/>
                    </a:solidFill>
                  </a:rPr>
                  <a:t>standard CFG++ for remaining steps.</a:t>
                </a:r>
              </a:p>
              <a:p>
                <a:endParaRPr lang="en" sz="16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Wingdings" pitchFamily="2" charset="2"/>
                  <a:buChar char="à"/>
                </a:pPr>
                <a:r>
                  <a:rPr lang="en" sz="2400" b="1" dirty="0">
                    <a:solidFill>
                      <a:schemeClr val="tx1"/>
                    </a:solidFill>
                  </a:rPr>
                  <a:t>NDCFG++ interpolates between unconditional and conditional predictions, keeping estimates closer to the data manifold and producing faithful edits that preserve background textures and object identity in high-resolution editing.</a:t>
                </a:r>
              </a:p>
            </p:txBody>
          </p:sp>
        </mc:Choice>
        <mc:Fallback xmlns="">
          <p:sp>
            <p:nvSpPr>
              <p:cNvPr id="18" name="Rectangle 23">
                <a:extLst>
                  <a:ext uri="{FF2B5EF4-FFF2-40B4-BE49-F238E27FC236}">
                    <a16:creationId xmlns:a16="http://schemas.microsoft.com/office/drawing/2014/main" id="{725FA9BD-2F7A-EF88-C65A-03A7996D3E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1987" y="7552280"/>
                <a:ext cx="13990114" cy="8202585"/>
              </a:xfrm>
              <a:prstGeom prst="rect">
                <a:avLst/>
              </a:prstGeom>
              <a:blipFill>
                <a:blip r:embed="rId10"/>
                <a:stretch>
                  <a:fillRect l="-725" t="-773" b="-10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1">
            <a:extLst>
              <a:ext uri="{FF2B5EF4-FFF2-40B4-BE49-F238E27FC236}">
                <a16:creationId xmlns:a16="http://schemas.microsoft.com/office/drawing/2014/main" id="{72CF7174-3383-2D08-C288-94EC50F046DC}"/>
              </a:ext>
            </a:extLst>
          </p:cNvPr>
          <p:cNvSpPr/>
          <p:nvPr/>
        </p:nvSpPr>
        <p:spPr>
          <a:xfrm>
            <a:off x="29490778" y="2694085"/>
            <a:ext cx="14043529" cy="779057"/>
          </a:xfrm>
          <a:prstGeom prst="roundRect">
            <a:avLst>
              <a:gd name="adj" fmla="val 1541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Results</a:t>
            </a:r>
            <a:endParaRPr lang="en-KR" sz="36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53D6EBD0-B917-135A-DA40-C189234A4F46}"/>
              </a:ext>
            </a:extLst>
          </p:cNvPr>
          <p:cNvSpPr/>
          <p:nvPr/>
        </p:nvSpPr>
        <p:spPr>
          <a:xfrm>
            <a:off x="338502" y="17151787"/>
            <a:ext cx="13995822" cy="17473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ore-KR" sz="3200" b="1" dirty="0">
                <a:solidFill>
                  <a:schemeClr val="tx1"/>
                </a:solidFill>
              </a:rPr>
              <a:t>2. If we succeed in creating an edit-friendly high-resolution latent, </a:t>
            </a:r>
            <a:br>
              <a:rPr lang="en-US" altLang="ko-Kore-KR" sz="3200" b="1" dirty="0">
                <a:solidFill>
                  <a:schemeClr val="tx1"/>
                </a:solidFill>
              </a:rPr>
            </a:br>
            <a:r>
              <a:rPr lang="en-US" altLang="ko-Kore-KR" sz="3200" b="1" dirty="0">
                <a:solidFill>
                  <a:schemeClr val="tx1"/>
                </a:solidFill>
              </a:rPr>
              <a:t>how can we guide the reverse process from this latent </a:t>
            </a:r>
            <a:br>
              <a:rPr lang="en-US" altLang="ko-Kore-KR" sz="3200" b="1" dirty="0">
                <a:solidFill>
                  <a:schemeClr val="tx1"/>
                </a:solidFill>
              </a:rPr>
            </a:br>
            <a:r>
              <a:rPr lang="en-US" altLang="ko-Kore-KR" sz="3200" b="1" dirty="0">
                <a:solidFill>
                  <a:schemeClr val="tx1"/>
                </a:solidFill>
              </a:rPr>
              <a:t>using a fixed-size pretrained diffusion model?</a:t>
            </a: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F5778AD3-5D37-0BF8-D116-D5B84203E3A2}"/>
              </a:ext>
            </a:extLst>
          </p:cNvPr>
          <p:cNvSpPr/>
          <p:nvPr/>
        </p:nvSpPr>
        <p:spPr>
          <a:xfrm>
            <a:off x="347211" y="18908772"/>
            <a:ext cx="13990114" cy="2647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endParaRPr sz="2438" b="1" dirty="0">
              <a:solidFill>
                <a:schemeClr val="tx1"/>
              </a:solidFill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601238" y="10424674"/>
            <a:ext cx="2520000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29" dirty="0"/>
              <a:t>Original Image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1580615" y="10415192"/>
            <a:ext cx="2520000" cy="65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829" dirty="0"/>
              <a:t>Edited Image</a:t>
            </a:r>
          </a:p>
          <a:p>
            <a:pPr algn="ctr"/>
            <a:r>
              <a:rPr lang="en" sz="1829" dirty="0"/>
              <a:t>by CSD [1]</a:t>
            </a:r>
            <a:endParaRPr sz="1829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191C601-C6D0-ACCF-4E14-39C8BA4759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38" y="7887081"/>
            <a:ext cx="2520000" cy="2520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743B12A-536B-8C51-C0BB-1B622EDDE3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0615" y="7898450"/>
            <a:ext cx="2520000" cy="25200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EED0C0D-45D7-E633-44BC-208840F045DC}"/>
              </a:ext>
            </a:extLst>
          </p:cNvPr>
          <p:cNvSpPr txBox="1"/>
          <p:nvPr/>
        </p:nvSpPr>
        <p:spPr>
          <a:xfrm>
            <a:off x="3057589" y="9286163"/>
            <a:ext cx="16709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1D1C1D"/>
                </a:solidFill>
                <a:latin typeface="Ink Free" panose="03080402000500000000" pitchFamily="66" charset="0"/>
              </a:rPr>
              <a:t>”puppy” </a:t>
            </a:r>
            <a:br>
              <a:rPr lang="en-US" altLang="ko-KR" sz="2000" b="1" dirty="0">
                <a:solidFill>
                  <a:srgbClr val="1D1C1D"/>
                </a:solidFill>
                <a:latin typeface="Ink Free" panose="03080402000500000000" pitchFamily="66" charset="0"/>
              </a:rPr>
            </a:br>
            <a:r>
              <a:rPr lang="en-US" altLang="ko-KR" sz="2000" b="1" dirty="0">
                <a:solidFill>
                  <a:srgbClr val="1D1C1D"/>
                </a:solidFill>
                <a:latin typeface="Ink Free" panose="03080402000500000000" pitchFamily="66" charset="0"/>
              </a:rPr>
              <a:t>-&gt; ”kitten”</a:t>
            </a:r>
            <a:endParaRPr lang="ko-KR" altLang="en-US" sz="2000" b="1" dirty="0">
              <a:latin typeface="Ink Free" panose="03080402000500000000" pitchFamily="66" charset="0"/>
            </a:endParaRPr>
          </a:p>
        </p:txBody>
      </p:sp>
      <p:sp>
        <p:nvSpPr>
          <p:cNvPr id="33" name="Right Arrow 14">
            <a:extLst>
              <a:ext uri="{FF2B5EF4-FFF2-40B4-BE49-F238E27FC236}">
                <a16:creationId xmlns:a16="http://schemas.microsoft.com/office/drawing/2014/main" id="{8994A6A7-B790-D263-8309-43066C0AA040}"/>
              </a:ext>
            </a:extLst>
          </p:cNvPr>
          <p:cNvSpPr/>
          <p:nvPr/>
        </p:nvSpPr>
        <p:spPr>
          <a:xfrm>
            <a:off x="3361511" y="8861874"/>
            <a:ext cx="1146651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80F7B8D0-E74D-DCE4-9B29-A5F91F4BF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291462"/>
              </p:ext>
            </p:extLst>
          </p:nvPr>
        </p:nvGraphicFramePr>
        <p:xfrm>
          <a:off x="606770" y="7893878"/>
          <a:ext cx="2514468" cy="2513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234">
                  <a:extLst>
                    <a:ext uri="{9D8B030D-6E8A-4147-A177-3AD203B41FA5}">
                      <a16:colId xmlns:a16="http://schemas.microsoft.com/office/drawing/2014/main" val="1757726461"/>
                    </a:ext>
                  </a:extLst>
                </a:gridCol>
                <a:gridCol w="1257234">
                  <a:extLst>
                    <a:ext uri="{9D8B030D-6E8A-4147-A177-3AD203B41FA5}">
                      <a16:colId xmlns:a16="http://schemas.microsoft.com/office/drawing/2014/main" val="180445891"/>
                    </a:ext>
                  </a:extLst>
                </a:gridCol>
              </a:tblGrid>
              <a:tr h="1256602">
                <a:tc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22263"/>
                  </a:ext>
                </a:extLst>
              </a:tr>
              <a:tr h="1256602">
                <a:tc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992404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472EAAF9-A9FD-508C-EA0E-F9A4867E1309}"/>
              </a:ext>
            </a:extLst>
          </p:cNvPr>
          <p:cNvSpPr txBox="1"/>
          <p:nvPr/>
        </p:nvSpPr>
        <p:spPr>
          <a:xfrm>
            <a:off x="6021762" y="8632671"/>
            <a:ext cx="26287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Each patch is </a:t>
            </a:r>
            <a:r>
              <a:rPr lang="en-US" sz="1400" b="1" dirty="0">
                <a:solidFill>
                  <a:srgbClr val="C00000"/>
                </a:solidFill>
              </a:rPr>
              <a:t>edited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b="1" dirty="0">
                <a:solidFill>
                  <a:srgbClr val="C00000"/>
                </a:solidFill>
              </a:rPr>
              <a:t>independently</a:t>
            </a:r>
            <a:r>
              <a:rPr lang="en-US" sz="1400" dirty="0">
                <a:solidFill>
                  <a:srgbClr val="C00000"/>
                </a:solidFill>
              </a:rPr>
              <a:t> without knowledge of the whole image</a:t>
            </a:r>
            <a:endParaRPr sz="1400" dirty="0">
              <a:solidFill>
                <a:srgbClr val="C00000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CFCEA238-D470-A198-9F4C-62772FFA6B1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357" y="9150480"/>
            <a:ext cx="1260000" cy="12600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8D74E97-AE30-2E8E-DEBD-AF6B415DB1B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357" y="10607540"/>
            <a:ext cx="1260000" cy="12600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E84F32E-543A-0E29-81AF-84E8FCBF768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357" y="6236362"/>
            <a:ext cx="1260000" cy="12600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38F43B6-200D-46C8-9E9B-3E4CD40F91E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357" y="7693421"/>
            <a:ext cx="1260000" cy="126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D986780B-01B3-2602-F6DC-AA065B7CDBD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967" y="9150480"/>
            <a:ext cx="1260000" cy="126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E4353683-22CF-1A8F-8FF6-81B2CDD420A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967" y="10607540"/>
            <a:ext cx="1260000" cy="12600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A55C67BB-21DE-AB48-6387-105B542BC54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967" y="6236362"/>
            <a:ext cx="1260000" cy="126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3333984B-6496-0711-695C-06099C841CE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967" y="7693421"/>
            <a:ext cx="1260000" cy="1260000"/>
          </a:xfrm>
          <a:prstGeom prst="rect">
            <a:avLst/>
          </a:prstGeom>
        </p:spPr>
      </p:pic>
      <p:sp>
        <p:nvSpPr>
          <p:cNvPr id="54" name="Right Arrow 14">
            <a:extLst>
              <a:ext uri="{FF2B5EF4-FFF2-40B4-BE49-F238E27FC236}">
                <a16:creationId xmlns:a16="http://schemas.microsoft.com/office/drawing/2014/main" id="{8FEA2816-ABA9-6B0F-E39F-943E2209111B}"/>
              </a:ext>
            </a:extLst>
          </p:cNvPr>
          <p:cNvSpPr/>
          <p:nvPr/>
        </p:nvSpPr>
        <p:spPr>
          <a:xfrm>
            <a:off x="10240349" y="8838473"/>
            <a:ext cx="1146651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sp>
        <p:nvSpPr>
          <p:cNvPr id="56" name="Right Arrow 14">
            <a:extLst>
              <a:ext uri="{FF2B5EF4-FFF2-40B4-BE49-F238E27FC236}">
                <a16:creationId xmlns:a16="http://schemas.microsoft.com/office/drawing/2014/main" id="{15B1E3C5-6C37-5B5D-EC7C-91AA5B9D6AC8}"/>
              </a:ext>
            </a:extLst>
          </p:cNvPr>
          <p:cNvSpPr/>
          <p:nvPr/>
        </p:nvSpPr>
        <p:spPr>
          <a:xfrm>
            <a:off x="6778619" y="6692053"/>
            <a:ext cx="1146651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sp>
        <p:nvSpPr>
          <p:cNvPr id="57" name="Right Arrow 14">
            <a:extLst>
              <a:ext uri="{FF2B5EF4-FFF2-40B4-BE49-F238E27FC236}">
                <a16:creationId xmlns:a16="http://schemas.microsoft.com/office/drawing/2014/main" id="{9F8515E4-3116-D2B9-50D3-0ABAF6CD5A4E}"/>
              </a:ext>
            </a:extLst>
          </p:cNvPr>
          <p:cNvSpPr/>
          <p:nvPr/>
        </p:nvSpPr>
        <p:spPr>
          <a:xfrm>
            <a:off x="6778619" y="8140343"/>
            <a:ext cx="1146651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sp>
        <p:nvSpPr>
          <p:cNvPr id="58" name="Right Arrow 14">
            <a:extLst>
              <a:ext uri="{FF2B5EF4-FFF2-40B4-BE49-F238E27FC236}">
                <a16:creationId xmlns:a16="http://schemas.microsoft.com/office/drawing/2014/main" id="{13740EC0-5897-7548-5963-B676534051B9}"/>
              </a:ext>
            </a:extLst>
          </p:cNvPr>
          <p:cNvSpPr/>
          <p:nvPr/>
        </p:nvSpPr>
        <p:spPr>
          <a:xfrm>
            <a:off x="6746922" y="9599310"/>
            <a:ext cx="1146651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sp>
        <p:nvSpPr>
          <p:cNvPr id="59" name="Right Arrow 14">
            <a:extLst>
              <a:ext uri="{FF2B5EF4-FFF2-40B4-BE49-F238E27FC236}">
                <a16:creationId xmlns:a16="http://schemas.microsoft.com/office/drawing/2014/main" id="{B125CCDC-0579-5270-109B-7B9B15FAA7AB}"/>
              </a:ext>
            </a:extLst>
          </p:cNvPr>
          <p:cNvSpPr/>
          <p:nvPr/>
        </p:nvSpPr>
        <p:spPr>
          <a:xfrm>
            <a:off x="6778619" y="11058464"/>
            <a:ext cx="1146651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DF85CB3F-4FFB-3754-BAE2-1F3BFDBEFDB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978" y="14519858"/>
            <a:ext cx="2160000" cy="2160000"/>
          </a:xfrm>
          <a:prstGeom prst="rect">
            <a:avLst/>
          </a:prstGeom>
        </p:spPr>
      </p:pic>
      <p:sp>
        <p:nvSpPr>
          <p:cNvPr id="128" name="호 127">
            <a:extLst>
              <a:ext uri="{FF2B5EF4-FFF2-40B4-BE49-F238E27FC236}">
                <a16:creationId xmlns:a16="http://schemas.microsoft.com/office/drawing/2014/main" id="{53A93A73-55F6-7875-15F8-AB3C1FBDCFAC}"/>
              </a:ext>
            </a:extLst>
          </p:cNvPr>
          <p:cNvSpPr/>
          <p:nvPr/>
        </p:nvSpPr>
        <p:spPr>
          <a:xfrm rot="10800000">
            <a:off x="5774115" y="16484069"/>
            <a:ext cx="1344294" cy="37382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42E46C2-D918-EBFB-1892-9D66EE7427C5}"/>
              </a:ext>
            </a:extLst>
          </p:cNvPr>
          <p:cNvSpPr txBox="1"/>
          <p:nvPr/>
        </p:nvSpPr>
        <p:spPr>
          <a:xfrm>
            <a:off x="6422375" y="16689385"/>
            <a:ext cx="869343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2048</a:t>
            </a:r>
            <a:endParaRPr dirty="0"/>
          </a:p>
        </p:txBody>
      </p:sp>
      <p:sp>
        <p:nvSpPr>
          <p:cNvPr id="130" name="호 129">
            <a:extLst>
              <a:ext uri="{FF2B5EF4-FFF2-40B4-BE49-F238E27FC236}">
                <a16:creationId xmlns:a16="http://schemas.microsoft.com/office/drawing/2014/main" id="{8FCDB37F-39B9-6E1C-A8D7-01D8800F1BE4}"/>
              </a:ext>
            </a:extLst>
          </p:cNvPr>
          <p:cNvSpPr/>
          <p:nvPr/>
        </p:nvSpPr>
        <p:spPr>
          <a:xfrm rot="10800000" flipH="1">
            <a:off x="6595684" y="16484069"/>
            <a:ext cx="1344294" cy="37382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861A2696-4D3C-E2B8-0896-D448153A9DEC}"/>
              </a:ext>
            </a:extLst>
          </p:cNvPr>
          <p:cNvGrpSpPr/>
          <p:nvPr/>
        </p:nvGrpSpPr>
        <p:grpSpPr>
          <a:xfrm>
            <a:off x="9219080" y="14709617"/>
            <a:ext cx="1712069" cy="1765573"/>
            <a:chOff x="3853322" y="14768336"/>
            <a:chExt cx="1712069" cy="1765573"/>
          </a:xfrm>
        </p:grpSpPr>
        <p:sp>
          <p:nvSpPr>
            <p:cNvPr id="131" name="사다리꼴[T] 130">
              <a:extLst>
                <a:ext uri="{FF2B5EF4-FFF2-40B4-BE49-F238E27FC236}">
                  <a16:creationId xmlns:a16="http://schemas.microsoft.com/office/drawing/2014/main" id="{D395284A-BC27-4315-5499-89BEA499A80A}"/>
                </a:ext>
              </a:extLst>
            </p:cNvPr>
            <p:cNvSpPr/>
            <p:nvPr/>
          </p:nvSpPr>
          <p:spPr>
            <a:xfrm rot="5400000">
              <a:off x="3398553" y="15223106"/>
              <a:ext cx="1765573" cy="856034"/>
            </a:xfrm>
            <a:prstGeom prst="trapezoi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2" name="사다리꼴[T] 131">
              <a:extLst>
                <a:ext uri="{FF2B5EF4-FFF2-40B4-BE49-F238E27FC236}">
                  <a16:creationId xmlns:a16="http://schemas.microsoft.com/office/drawing/2014/main" id="{3E43BE81-D475-0B01-B11B-FC69E76CAF11}"/>
                </a:ext>
              </a:extLst>
            </p:cNvPr>
            <p:cNvSpPr/>
            <p:nvPr/>
          </p:nvSpPr>
          <p:spPr>
            <a:xfrm rot="16200000" flipH="1">
              <a:off x="4254587" y="15223106"/>
              <a:ext cx="1765573" cy="856034"/>
            </a:xfrm>
            <a:prstGeom prst="trapezoi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8520D447-5792-D698-24B2-01E92B974B98}"/>
                    </a:ext>
                  </a:extLst>
                </p:cNvPr>
                <p:cNvSpPr txBox="1"/>
                <p:nvPr/>
              </p:nvSpPr>
              <p:spPr>
                <a:xfrm>
                  <a:off x="3853322" y="15279576"/>
                  <a:ext cx="1712069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SD</a:t>
                  </a:r>
                  <a:b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U-Net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a14:m>
                  <a:endParaRPr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8520D447-5792-D698-24B2-01E92B974B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322" y="15279576"/>
                  <a:ext cx="1712069" cy="830997"/>
                </a:xfrm>
                <a:prstGeom prst="rect">
                  <a:avLst/>
                </a:prstGeom>
                <a:blipFill>
                  <a:blip r:embed="rId22"/>
                  <a:stretch>
                    <a:fillRect t="-6061" b="-16667"/>
                  </a:stretch>
                </a:blipFill>
              </p:spPr>
              <p:txBody>
                <a:bodyPr/>
                <a:lstStyle/>
                <a:p>
                  <a:r>
                    <a:rPr lang="ko-Kore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5" name="Right Arrow 14">
            <a:extLst>
              <a:ext uri="{FF2B5EF4-FFF2-40B4-BE49-F238E27FC236}">
                <a16:creationId xmlns:a16="http://schemas.microsoft.com/office/drawing/2014/main" id="{1671027C-CC52-DBC3-C549-295656AF7CFC}"/>
              </a:ext>
            </a:extLst>
          </p:cNvPr>
          <p:cNvSpPr/>
          <p:nvPr/>
        </p:nvSpPr>
        <p:spPr>
          <a:xfrm>
            <a:off x="11220615" y="15512809"/>
            <a:ext cx="720000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sp>
        <p:nvSpPr>
          <p:cNvPr id="136" name="Right Arrow 14">
            <a:extLst>
              <a:ext uri="{FF2B5EF4-FFF2-40B4-BE49-F238E27FC236}">
                <a16:creationId xmlns:a16="http://schemas.microsoft.com/office/drawing/2014/main" id="{3352CDB5-3563-D78E-090B-728E651D9CAA}"/>
              </a:ext>
            </a:extLst>
          </p:cNvPr>
          <p:cNvSpPr/>
          <p:nvPr/>
        </p:nvSpPr>
        <p:spPr>
          <a:xfrm>
            <a:off x="8245097" y="15512809"/>
            <a:ext cx="720000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pic>
        <p:nvPicPr>
          <p:cNvPr id="138" name="그림 137">
            <a:extLst>
              <a:ext uri="{FF2B5EF4-FFF2-40B4-BE49-F238E27FC236}">
                <a16:creationId xmlns:a16="http://schemas.microsoft.com/office/drawing/2014/main" id="{C84C4AC4-3A05-4212-D43A-0173D42BBE3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8552" y="14519858"/>
            <a:ext cx="2160000" cy="2160000"/>
          </a:xfrm>
          <a:prstGeom prst="rect">
            <a:avLst/>
          </a:prstGeom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EDB3F3E4-B748-7E16-5628-EF5221229515}"/>
              </a:ext>
            </a:extLst>
          </p:cNvPr>
          <p:cNvSpPr txBox="1"/>
          <p:nvPr/>
        </p:nvSpPr>
        <p:spPr>
          <a:xfrm>
            <a:off x="9320040" y="16436833"/>
            <a:ext cx="1519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1D1C1D"/>
                </a:solidFill>
                <a:latin typeface="BM YEONSUNG OTF" panose="020B0600000101010101" pitchFamily="34" charset="-127"/>
                <a:ea typeface="BM YEONSUNG OTF" panose="020B0600000101010101" pitchFamily="34" charset="-127"/>
              </a:rPr>
              <a:t>Trained on 512 × 512 </a:t>
            </a:r>
            <a:endParaRPr lang="ko-KR" altLang="en-US" sz="2000" dirty="0">
              <a:latin typeface="BM YEONSUNG OTF" panose="020B0600000101010101" pitchFamily="34" charset="-127"/>
              <a:ea typeface="BM YEONSUNG OTF" panose="020B0600000101010101" pitchFamily="34" charset="-127"/>
            </a:endParaRPr>
          </a:p>
        </p:txBody>
      </p:sp>
      <p:sp>
        <p:nvSpPr>
          <p:cNvPr id="140" name="호 139">
            <a:extLst>
              <a:ext uri="{FF2B5EF4-FFF2-40B4-BE49-F238E27FC236}">
                <a16:creationId xmlns:a16="http://schemas.microsoft.com/office/drawing/2014/main" id="{22FF79AB-EED7-00AD-156E-197CBA8D503B}"/>
              </a:ext>
            </a:extLst>
          </p:cNvPr>
          <p:cNvSpPr/>
          <p:nvPr/>
        </p:nvSpPr>
        <p:spPr>
          <a:xfrm rot="10800000">
            <a:off x="12079758" y="16484069"/>
            <a:ext cx="1344294" cy="37382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0E333C0-CC95-306F-DAE1-37DF1EC1396E}"/>
              </a:ext>
            </a:extLst>
          </p:cNvPr>
          <p:cNvSpPr txBox="1"/>
          <p:nvPr/>
        </p:nvSpPr>
        <p:spPr>
          <a:xfrm>
            <a:off x="12728018" y="16689385"/>
            <a:ext cx="869343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256</a:t>
            </a:r>
            <a:endParaRPr dirty="0"/>
          </a:p>
        </p:txBody>
      </p:sp>
      <p:sp>
        <p:nvSpPr>
          <p:cNvPr id="142" name="호 141">
            <a:extLst>
              <a:ext uri="{FF2B5EF4-FFF2-40B4-BE49-F238E27FC236}">
                <a16:creationId xmlns:a16="http://schemas.microsoft.com/office/drawing/2014/main" id="{12C1A1F4-67EC-3C04-21E5-255003568F26}"/>
              </a:ext>
            </a:extLst>
          </p:cNvPr>
          <p:cNvSpPr/>
          <p:nvPr/>
        </p:nvSpPr>
        <p:spPr>
          <a:xfrm rot="10800000" flipH="1">
            <a:off x="12901327" y="16484069"/>
            <a:ext cx="1344294" cy="37382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498E463-EF91-CA1B-5D84-003F18A006B6}"/>
              </a:ext>
            </a:extLst>
          </p:cNvPr>
          <p:cNvSpPr txBox="1"/>
          <p:nvPr/>
        </p:nvSpPr>
        <p:spPr>
          <a:xfrm>
            <a:off x="486220" y="14697326"/>
            <a:ext cx="518127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ko-Kore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Pretrained text-to-image diffusion models trained on 512×512 or 1024×1024 images.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altLang="ko-Kore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ko-Kore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Direct DDIM inversion of high-resolution images yields poor latent.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6AE3D2E-292E-B2E4-5F22-BD9138033F98}"/>
              </a:ext>
            </a:extLst>
          </p:cNvPr>
          <p:cNvSpPr txBox="1"/>
          <p:nvPr/>
        </p:nvSpPr>
        <p:spPr>
          <a:xfrm>
            <a:off x="11071272" y="14917556"/>
            <a:ext cx="8693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BM YEONSUNG OTF" panose="020B0600000101010101" pitchFamily="34" charset="-127"/>
                <a:ea typeface="BM YEONSUNG OTF" panose="020B0600000101010101" pitchFamily="34" charset="-127"/>
              </a:rPr>
              <a:t>???</a:t>
            </a:r>
            <a:endParaRPr sz="3200" dirty="0">
              <a:latin typeface="BM YEONSUNG OTF" panose="020B0600000101010101" pitchFamily="34" charset="-127"/>
              <a:ea typeface="BM YEONSUNG OTF" panose="020B0600000101010101" pitchFamily="34" charset="-127"/>
            </a:endParaRPr>
          </a:p>
        </p:txBody>
      </p:sp>
      <p:sp>
        <p:nvSpPr>
          <p:cNvPr id="147" name="호 146">
            <a:extLst>
              <a:ext uri="{FF2B5EF4-FFF2-40B4-BE49-F238E27FC236}">
                <a16:creationId xmlns:a16="http://schemas.microsoft.com/office/drawing/2014/main" id="{FBEDD873-F711-49E2-FF2B-9C4CE23ED145}"/>
              </a:ext>
            </a:extLst>
          </p:cNvPr>
          <p:cNvSpPr/>
          <p:nvPr/>
        </p:nvSpPr>
        <p:spPr>
          <a:xfrm rot="10800000">
            <a:off x="5774115" y="21078855"/>
            <a:ext cx="1344294" cy="37382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21643EF-B76C-1BA9-2D7C-974E2DFAB72E}"/>
              </a:ext>
            </a:extLst>
          </p:cNvPr>
          <p:cNvSpPr txBox="1"/>
          <p:nvPr/>
        </p:nvSpPr>
        <p:spPr>
          <a:xfrm>
            <a:off x="6422375" y="21284171"/>
            <a:ext cx="869343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256</a:t>
            </a:r>
            <a:endParaRPr dirty="0"/>
          </a:p>
        </p:txBody>
      </p:sp>
      <p:sp>
        <p:nvSpPr>
          <p:cNvPr id="149" name="호 148">
            <a:extLst>
              <a:ext uri="{FF2B5EF4-FFF2-40B4-BE49-F238E27FC236}">
                <a16:creationId xmlns:a16="http://schemas.microsoft.com/office/drawing/2014/main" id="{191F9BBB-07EE-E0A4-87D5-303B5D085E67}"/>
              </a:ext>
            </a:extLst>
          </p:cNvPr>
          <p:cNvSpPr/>
          <p:nvPr/>
        </p:nvSpPr>
        <p:spPr>
          <a:xfrm rot="10800000" flipH="1">
            <a:off x="6595684" y="21078855"/>
            <a:ext cx="1344294" cy="37382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F3D0E588-C15F-172F-A7F6-58F1D09CF8FF}"/>
              </a:ext>
            </a:extLst>
          </p:cNvPr>
          <p:cNvGrpSpPr/>
          <p:nvPr/>
        </p:nvGrpSpPr>
        <p:grpSpPr>
          <a:xfrm>
            <a:off x="9219080" y="19304403"/>
            <a:ext cx="1712069" cy="1765573"/>
            <a:chOff x="3853322" y="14768336"/>
            <a:chExt cx="1712069" cy="1765573"/>
          </a:xfrm>
        </p:grpSpPr>
        <p:sp>
          <p:nvSpPr>
            <p:cNvPr id="151" name="사다리꼴[T] 150">
              <a:extLst>
                <a:ext uri="{FF2B5EF4-FFF2-40B4-BE49-F238E27FC236}">
                  <a16:creationId xmlns:a16="http://schemas.microsoft.com/office/drawing/2014/main" id="{AB122105-71E5-15A9-DF1A-12573690E032}"/>
                </a:ext>
              </a:extLst>
            </p:cNvPr>
            <p:cNvSpPr/>
            <p:nvPr/>
          </p:nvSpPr>
          <p:spPr>
            <a:xfrm rot="5400000">
              <a:off x="3398553" y="15223106"/>
              <a:ext cx="1765573" cy="856034"/>
            </a:xfrm>
            <a:prstGeom prst="trapezoi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52" name="사다리꼴[T] 151">
              <a:extLst>
                <a:ext uri="{FF2B5EF4-FFF2-40B4-BE49-F238E27FC236}">
                  <a16:creationId xmlns:a16="http://schemas.microsoft.com/office/drawing/2014/main" id="{40207002-EFB2-6142-9011-2D6E4C031ED3}"/>
                </a:ext>
              </a:extLst>
            </p:cNvPr>
            <p:cNvSpPr/>
            <p:nvPr/>
          </p:nvSpPr>
          <p:spPr>
            <a:xfrm rot="16200000" flipH="1">
              <a:off x="4254587" y="15223106"/>
              <a:ext cx="1765573" cy="856034"/>
            </a:xfrm>
            <a:prstGeom prst="trapezoi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1791DB0C-9E0E-2997-407E-B4D3D8B8D317}"/>
                    </a:ext>
                  </a:extLst>
                </p:cNvPr>
                <p:cNvSpPr txBox="1"/>
                <p:nvPr/>
              </p:nvSpPr>
              <p:spPr>
                <a:xfrm>
                  <a:off x="3853322" y="15279576"/>
                  <a:ext cx="1712069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SD</a:t>
                  </a:r>
                  <a:b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U-Net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a14:m>
                  <a:endParaRPr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1791DB0C-9E0E-2997-407E-B4D3D8B8D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322" y="15279576"/>
                  <a:ext cx="1712069" cy="830997"/>
                </a:xfrm>
                <a:prstGeom prst="rect">
                  <a:avLst/>
                </a:prstGeom>
                <a:blipFill>
                  <a:blip r:embed="rId24"/>
                  <a:stretch>
                    <a:fillRect t="-6061" b="-16667"/>
                  </a:stretch>
                </a:blipFill>
              </p:spPr>
              <p:txBody>
                <a:bodyPr/>
                <a:lstStyle/>
                <a:p>
                  <a:r>
                    <a:rPr lang="ko-Kore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4" name="Right Arrow 14">
            <a:extLst>
              <a:ext uri="{FF2B5EF4-FFF2-40B4-BE49-F238E27FC236}">
                <a16:creationId xmlns:a16="http://schemas.microsoft.com/office/drawing/2014/main" id="{C1BCD008-A3E5-E411-DDDB-C55067902D68}"/>
              </a:ext>
            </a:extLst>
          </p:cNvPr>
          <p:cNvSpPr/>
          <p:nvPr/>
        </p:nvSpPr>
        <p:spPr>
          <a:xfrm>
            <a:off x="11220615" y="20107595"/>
            <a:ext cx="720000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sp>
        <p:nvSpPr>
          <p:cNvPr id="155" name="Right Arrow 14">
            <a:extLst>
              <a:ext uri="{FF2B5EF4-FFF2-40B4-BE49-F238E27FC236}">
                <a16:creationId xmlns:a16="http://schemas.microsoft.com/office/drawing/2014/main" id="{16126656-2C5B-1B77-7CEC-167D0D4E64FE}"/>
              </a:ext>
            </a:extLst>
          </p:cNvPr>
          <p:cNvSpPr/>
          <p:nvPr/>
        </p:nvSpPr>
        <p:spPr>
          <a:xfrm>
            <a:off x="8245097" y="20107595"/>
            <a:ext cx="720000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1E0AFC3-423A-9328-B28C-0E753FD48D97}"/>
              </a:ext>
            </a:extLst>
          </p:cNvPr>
          <p:cNvSpPr txBox="1"/>
          <p:nvPr/>
        </p:nvSpPr>
        <p:spPr>
          <a:xfrm>
            <a:off x="9320040" y="21031619"/>
            <a:ext cx="1519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1D1C1D"/>
                </a:solidFill>
                <a:latin typeface="BM YEONSUNG OTF" panose="020B0600000101010101" pitchFamily="34" charset="-127"/>
                <a:ea typeface="BM YEONSUNG OTF" panose="020B0600000101010101" pitchFamily="34" charset="-127"/>
              </a:rPr>
              <a:t>Trained on 512 × 512 </a:t>
            </a:r>
            <a:endParaRPr lang="ko-KR" altLang="en-US" sz="2000" dirty="0">
              <a:latin typeface="BM YEONSUNG OTF" panose="020B0600000101010101" pitchFamily="34" charset="-127"/>
              <a:ea typeface="BM YEONSUNG OTF" panose="020B0600000101010101" pitchFamily="34" charset="-127"/>
            </a:endParaRPr>
          </a:p>
        </p:txBody>
      </p:sp>
      <p:sp>
        <p:nvSpPr>
          <p:cNvPr id="158" name="호 157">
            <a:extLst>
              <a:ext uri="{FF2B5EF4-FFF2-40B4-BE49-F238E27FC236}">
                <a16:creationId xmlns:a16="http://schemas.microsoft.com/office/drawing/2014/main" id="{BD3902BD-43AD-B6AA-EF97-1081B41C6FD7}"/>
              </a:ext>
            </a:extLst>
          </p:cNvPr>
          <p:cNvSpPr/>
          <p:nvPr/>
        </p:nvSpPr>
        <p:spPr>
          <a:xfrm rot="10800000">
            <a:off x="12079758" y="21078855"/>
            <a:ext cx="1344294" cy="37382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69DE54C-C8FC-AA19-E708-73C54A97EDF6}"/>
              </a:ext>
            </a:extLst>
          </p:cNvPr>
          <p:cNvSpPr txBox="1"/>
          <p:nvPr/>
        </p:nvSpPr>
        <p:spPr>
          <a:xfrm>
            <a:off x="12728018" y="21284171"/>
            <a:ext cx="869343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2048</a:t>
            </a:r>
            <a:endParaRPr dirty="0"/>
          </a:p>
        </p:txBody>
      </p:sp>
      <p:sp>
        <p:nvSpPr>
          <p:cNvPr id="160" name="호 159">
            <a:extLst>
              <a:ext uri="{FF2B5EF4-FFF2-40B4-BE49-F238E27FC236}">
                <a16:creationId xmlns:a16="http://schemas.microsoft.com/office/drawing/2014/main" id="{C3AB014B-DC69-74A7-44ED-5ADDD5158B0D}"/>
              </a:ext>
            </a:extLst>
          </p:cNvPr>
          <p:cNvSpPr/>
          <p:nvPr/>
        </p:nvSpPr>
        <p:spPr>
          <a:xfrm rot="10800000" flipH="1">
            <a:off x="12901327" y="21078855"/>
            <a:ext cx="1344294" cy="37382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1E6AD12-93FD-37FE-1FA9-FA0262E5C6B2}"/>
              </a:ext>
            </a:extLst>
          </p:cNvPr>
          <p:cNvSpPr txBox="1"/>
          <p:nvPr/>
        </p:nvSpPr>
        <p:spPr>
          <a:xfrm>
            <a:off x="8121154" y="19518916"/>
            <a:ext cx="8693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BM YEONSUNG OTF" panose="020B0600000101010101" pitchFamily="34" charset="-127"/>
                <a:ea typeface="BM YEONSUNG OTF" panose="020B0600000101010101" pitchFamily="34" charset="-127"/>
              </a:rPr>
              <a:t>???</a:t>
            </a:r>
            <a:endParaRPr sz="3200" dirty="0">
              <a:latin typeface="BM YEONSUNG OTF" panose="020B0600000101010101" pitchFamily="34" charset="-127"/>
              <a:ea typeface="BM YEONSUNG OTF" panose="020B0600000101010101" pitchFamily="34" charset="-127"/>
            </a:endParaRPr>
          </a:p>
        </p:txBody>
      </p:sp>
      <p:pic>
        <p:nvPicPr>
          <p:cNvPr id="162" name="그림 161">
            <a:extLst>
              <a:ext uri="{FF2B5EF4-FFF2-40B4-BE49-F238E27FC236}">
                <a16:creationId xmlns:a16="http://schemas.microsoft.com/office/drawing/2014/main" id="{6453BA1C-678B-07CB-F387-DFF9C3E8B4A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115" y="19127616"/>
            <a:ext cx="2160000" cy="2160000"/>
          </a:xfrm>
          <a:prstGeom prst="rect">
            <a:avLst/>
          </a:prstGeom>
        </p:spPr>
      </p:pic>
      <p:pic>
        <p:nvPicPr>
          <p:cNvPr id="164" name="그림 163">
            <a:extLst>
              <a:ext uri="{FF2B5EF4-FFF2-40B4-BE49-F238E27FC236}">
                <a16:creationId xmlns:a16="http://schemas.microsoft.com/office/drawing/2014/main" id="{B3F3BD89-54C9-BCBD-3C30-8BC95DE8A31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8552" y="19127616"/>
            <a:ext cx="2160000" cy="2160000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34DD4F95-9DAE-A124-BB89-1D3DC3C8B9E8}"/>
              </a:ext>
            </a:extLst>
          </p:cNvPr>
          <p:cNvSpPr txBox="1"/>
          <p:nvPr/>
        </p:nvSpPr>
        <p:spPr>
          <a:xfrm>
            <a:off x="356887" y="19053773"/>
            <a:ext cx="54064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" altLang="ko-Kore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fixed-size U-Net </a:t>
            </a:r>
            <a:r>
              <a:rPr kumimoji="0" lang="en" altLang="ko-Kore-KR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cannot process high-resolution </a:t>
            </a:r>
            <a:r>
              <a:rPr kumimoji="0" lang="en" altLang="ko-Kore-KR" sz="24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latents</a:t>
            </a:r>
            <a:r>
              <a:rPr kumimoji="0" lang="en" altLang="ko-Kore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directly.</a:t>
            </a:r>
          </a:p>
          <a:p>
            <a:pPr lvl="0">
              <a:defRPr/>
            </a:pPr>
            <a:endParaRPr kumimoji="0" lang="en" altLang="ko-Kore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" altLang="ko-Kore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Patch-wise reverse diffusion guided by a single prompt causes object </a:t>
            </a:r>
            <a:r>
              <a:rPr lang="en" altLang="ko-Kore-KR" sz="2400" dirty="0">
                <a:solidFill>
                  <a:prstClr val="black"/>
                </a:solidFill>
              </a:rPr>
              <a:t>repetition → </a:t>
            </a:r>
            <a:r>
              <a:rPr kumimoji="0" lang="en" altLang="ko-Kore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CFG propagates the object to every patch even where it is absent.</a:t>
            </a:r>
          </a:p>
        </p:txBody>
      </p:sp>
      <p:pic>
        <p:nvPicPr>
          <p:cNvPr id="167" name="그림 166">
            <a:extLst>
              <a:ext uri="{FF2B5EF4-FFF2-40B4-BE49-F238E27FC236}">
                <a16:creationId xmlns:a16="http://schemas.microsoft.com/office/drawing/2014/main" id="{5B35C4A1-C86B-B833-AC7A-B506FB6C673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7450" y="4438814"/>
            <a:ext cx="13636300" cy="2943910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818929F0-E9BC-25EE-8607-FF8B9C3847E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7555" y="19538744"/>
            <a:ext cx="2160000" cy="2160000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AEEC068C-3E46-59C1-54FC-A5A34378204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8985" y="18174524"/>
            <a:ext cx="2160000" cy="2160000"/>
          </a:xfrm>
          <a:prstGeom prst="rect">
            <a:avLst/>
          </a:prstGeom>
        </p:spPr>
      </p:pic>
      <p:pic>
        <p:nvPicPr>
          <p:cNvPr id="180" name="그림 179">
            <a:extLst>
              <a:ext uri="{FF2B5EF4-FFF2-40B4-BE49-F238E27FC236}">
                <a16:creationId xmlns:a16="http://schemas.microsoft.com/office/drawing/2014/main" id="{C3EFA0D6-2EB8-63BD-CF28-8A56DD8FC19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7555" y="16881362"/>
            <a:ext cx="2160000" cy="2160000"/>
          </a:xfrm>
          <a:prstGeom prst="rect">
            <a:avLst/>
          </a:prstGeom>
        </p:spPr>
      </p:pic>
      <p:sp>
        <p:nvSpPr>
          <p:cNvPr id="181" name="Right Arrow 14">
            <a:extLst>
              <a:ext uri="{FF2B5EF4-FFF2-40B4-BE49-F238E27FC236}">
                <a16:creationId xmlns:a16="http://schemas.microsoft.com/office/drawing/2014/main" id="{E253E394-671D-84A6-5065-FA9AD42527EC}"/>
              </a:ext>
            </a:extLst>
          </p:cNvPr>
          <p:cNvSpPr/>
          <p:nvPr/>
        </p:nvSpPr>
        <p:spPr>
          <a:xfrm>
            <a:off x="18283700" y="18486344"/>
            <a:ext cx="7560000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sp>
        <p:nvSpPr>
          <p:cNvPr id="182" name="Right Arrow 14">
            <a:extLst>
              <a:ext uri="{FF2B5EF4-FFF2-40B4-BE49-F238E27FC236}">
                <a16:creationId xmlns:a16="http://schemas.microsoft.com/office/drawing/2014/main" id="{30E30BE9-0508-2890-1B5D-477E4D7350C1}"/>
              </a:ext>
            </a:extLst>
          </p:cNvPr>
          <p:cNvSpPr/>
          <p:nvPr/>
        </p:nvSpPr>
        <p:spPr>
          <a:xfrm>
            <a:off x="18283700" y="19754727"/>
            <a:ext cx="7560000" cy="360003"/>
          </a:xfrm>
          <a:prstGeom prst="rightArrow">
            <a:avLst>
              <a:gd name="adj1" fmla="val 50000"/>
              <a:gd name="adj2" fmla="val 6033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DD9120D3-3539-2FB7-A64F-84AA98A90599}"/>
                  </a:ext>
                </a:extLst>
              </p:cNvPr>
              <p:cNvSpPr txBox="1"/>
              <p:nvPr/>
            </p:nvSpPr>
            <p:spPr>
              <a:xfrm>
                <a:off x="18230210" y="19394201"/>
                <a:ext cx="76068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Small </a:t>
                </a:r>
                <a14:m>
                  <m:oMath xmlns:m="http://schemas.openxmlformats.org/officeDocument/2006/math">
                    <m:r>
                      <a:rPr kumimoji="1" lang="en-US" altLang="ko-Kore-KR" sz="24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altLang="ko-KR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/</a:t>
                </a:r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altLang="ko-KR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I</a:t>
                </a:r>
                <a:r>
                  <a:rPr 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nterpolate</a:t>
                </a:r>
                <a:r>
                  <a:rPr lang="ko-KR" alt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altLang="ko-KR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/</a:t>
                </a:r>
                <a:r>
                  <a:rPr lang="ko-KR" alt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altLang="ko-KR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Use</a:t>
                </a:r>
                <a:r>
                  <a:rPr lang="ko-KR" alt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altLang="ko-KR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dilated</a:t>
                </a:r>
                <a:r>
                  <a:rPr lang="ko-KR" alt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altLang="ko-KR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U-Net</a:t>
                </a:r>
                <a:r>
                  <a:rPr lang="ko-KR" altLang="en-US" sz="24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en" altLang="ko-Kore-K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" altLang="ko-Kore-K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DD9120D3-3539-2FB7-A64F-84AA98A90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0210" y="19394201"/>
                <a:ext cx="7606800" cy="461665"/>
              </a:xfrm>
              <a:prstGeom prst="rect">
                <a:avLst/>
              </a:prstGeom>
              <a:blipFill>
                <a:blip r:embed="rId30"/>
                <a:stretch>
                  <a:fillRect t="-7895" b="-28947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B443E7F4-F651-47B2-C57E-C2526B3CF60F}"/>
                  </a:ext>
                </a:extLst>
              </p:cNvPr>
              <p:cNvSpPr txBox="1"/>
              <p:nvPr/>
            </p:nvSpPr>
            <p:spPr>
              <a:xfrm>
                <a:off x="18230210" y="18822940"/>
                <a:ext cx="76068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B050"/>
                    </a:solidFill>
                  </a:rPr>
                  <a:t>High </a:t>
                </a:r>
                <a14:m>
                  <m:oMath xmlns:m="http://schemas.openxmlformats.org/officeDocument/2006/math">
                    <m:r>
                      <a:rPr lang="en-US" altLang="ko-Kore-KR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/ Extrapolate / Use vanilla U-Net 𝜖</a:t>
                </a:r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B443E7F4-F651-47B2-C57E-C2526B3CF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0210" y="18822940"/>
                <a:ext cx="7606800" cy="461665"/>
              </a:xfrm>
              <a:prstGeom prst="rect">
                <a:avLst/>
              </a:prstGeom>
              <a:blipFill>
                <a:blip r:embed="rId31"/>
                <a:stretch>
                  <a:fillRect t="-10811" b="-29730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직선 연결선[R] 188">
            <a:extLst>
              <a:ext uri="{FF2B5EF4-FFF2-40B4-BE49-F238E27FC236}">
                <a16:creationId xmlns:a16="http://schemas.microsoft.com/office/drawing/2014/main" id="{3526159B-15D2-C033-841B-CA145D3A5D26}"/>
              </a:ext>
            </a:extLst>
          </p:cNvPr>
          <p:cNvCxnSpPr/>
          <p:nvPr/>
        </p:nvCxnSpPr>
        <p:spPr>
          <a:xfrm>
            <a:off x="15105600" y="10953909"/>
            <a:ext cx="13680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44877905-0467-684A-8034-DD82EBDCE102}"/>
              </a:ext>
            </a:extLst>
          </p:cNvPr>
          <p:cNvSpPr txBox="1"/>
          <p:nvPr/>
        </p:nvSpPr>
        <p:spPr>
          <a:xfrm>
            <a:off x="29676439" y="3502430"/>
            <a:ext cx="684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400" b="1" dirty="0">
                <a:solidFill>
                  <a:schemeClr val="tx1"/>
                </a:solidFill>
              </a:rPr>
              <a:t>Qualitative Results: SDXL </a:t>
            </a:r>
            <a:r>
              <a:rPr lang="en" altLang="ko-Kore-KR" sz="2400" b="1" dirty="0"/>
              <a:t>16</a:t>
            </a:r>
            <a:r>
              <a:rPr lang="en" altLang="ko-Kore-KR" sz="2400" b="1" dirty="0">
                <a:solidFill>
                  <a:schemeClr val="tx1"/>
                </a:solidFill>
              </a:rPr>
              <a:t>× (4096×4096)</a:t>
            </a:r>
            <a:endParaRPr lang="en" altLang="ko-Kore-KR" sz="2000" b="1" dirty="0">
              <a:solidFill>
                <a:schemeClr val="tx1"/>
              </a:solidFill>
            </a:endParaRPr>
          </a:p>
        </p:txBody>
      </p:sp>
      <p:pic>
        <p:nvPicPr>
          <p:cNvPr id="230" name="그림 229">
            <a:extLst>
              <a:ext uri="{FF2B5EF4-FFF2-40B4-BE49-F238E27FC236}">
                <a16:creationId xmlns:a16="http://schemas.microsoft.com/office/drawing/2014/main" id="{8881B359-68BB-BA92-E4A6-4E2797D246D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9691345" y="9482155"/>
            <a:ext cx="6480000" cy="3256919"/>
          </a:xfrm>
          <a:prstGeom prst="rect">
            <a:avLst/>
          </a:prstGeom>
        </p:spPr>
      </p:pic>
      <p:pic>
        <p:nvPicPr>
          <p:cNvPr id="231" name="그림 230">
            <a:extLst>
              <a:ext uri="{FF2B5EF4-FFF2-40B4-BE49-F238E27FC236}">
                <a16:creationId xmlns:a16="http://schemas.microsoft.com/office/drawing/2014/main" id="{74AC218B-BD56-236F-40DF-C34473C5A8C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6512542" y="9492249"/>
            <a:ext cx="6480000" cy="1306245"/>
          </a:xfrm>
          <a:prstGeom prst="rect">
            <a:avLst/>
          </a:prstGeom>
        </p:spPr>
      </p:pic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BF7F6502-36F6-7908-DC4F-4965F7B47B7C}"/>
              </a:ext>
            </a:extLst>
          </p:cNvPr>
          <p:cNvGrpSpPr>
            <a:grpSpLocks noChangeAspect="1"/>
          </p:cNvGrpSpPr>
          <p:nvPr/>
        </p:nvGrpSpPr>
        <p:grpSpPr>
          <a:xfrm>
            <a:off x="36512541" y="10889343"/>
            <a:ext cx="6564011" cy="1643825"/>
            <a:chOff x="30170430" y="13167485"/>
            <a:chExt cx="10062697" cy="2520000"/>
          </a:xfrm>
        </p:grpSpPr>
        <p:pic>
          <p:nvPicPr>
            <p:cNvPr id="232" name="그림 231">
              <a:extLst>
                <a:ext uri="{FF2B5EF4-FFF2-40B4-BE49-F238E27FC236}">
                  <a16:creationId xmlns:a16="http://schemas.microsoft.com/office/drawing/2014/main" id="{71734D8F-4E8E-5833-6615-57161BC4E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rcRect l="33353" r="-1"/>
            <a:stretch>
              <a:fillRect/>
            </a:stretch>
          </p:blipFill>
          <p:spPr>
            <a:xfrm>
              <a:off x="35193127" y="13167485"/>
              <a:ext cx="5040000" cy="2520000"/>
            </a:xfrm>
            <a:prstGeom prst="rect">
              <a:avLst/>
            </a:prstGeom>
          </p:spPr>
        </p:pic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774BE0E7-9232-7454-6256-B52C59E04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30170430" y="13167485"/>
              <a:ext cx="2520000" cy="2520000"/>
            </a:xfrm>
            <a:prstGeom prst="rect">
              <a:avLst/>
            </a:prstGeom>
          </p:spPr>
        </p:pic>
        <p:pic>
          <p:nvPicPr>
            <p:cNvPr id="234" name="그림 233">
              <a:extLst>
                <a:ext uri="{FF2B5EF4-FFF2-40B4-BE49-F238E27FC236}">
                  <a16:creationId xmlns:a16="http://schemas.microsoft.com/office/drawing/2014/main" id="{EF84C0EB-3B9E-61D8-B5DB-1FA2D04E6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2691552" y="13167485"/>
              <a:ext cx="2520000" cy="2520000"/>
            </a:xfrm>
            <a:prstGeom prst="rect">
              <a:avLst/>
            </a:prstGeom>
          </p:spPr>
        </p:pic>
      </p:grpSp>
      <p:pic>
        <p:nvPicPr>
          <p:cNvPr id="235" name="그림 234">
            <a:extLst>
              <a:ext uri="{FF2B5EF4-FFF2-40B4-BE49-F238E27FC236}">
                <a16:creationId xmlns:a16="http://schemas.microsoft.com/office/drawing/2014/main" id="{1432A88D-6F9F-28C5-5367-0A6B3703BB3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9697816" y="13680617"/>
            <a:ext cx="10080000" cy="6217343"/>
          </a:xfrm>
          <a:prstGeom prst="rect">
            <a:avLst/>
          </a:prstGeom>
        </p:spPr>
      </p:pic>
      <p:pic>
        <p:nvPicPr>
          <p:cNvPr id="236" name="그림 235">
            <a:extLst>
              <a:ext uri="{FF2B5EF4-FFF2-40B4-BE49-F238E27FC236}">
                <a16:creationId xmlns:a16="http://schemas.microsoft.com/office/drawing/2014/main" id="{6DBFD324-8387-0F36-B647-6A2D3C72B247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5369" y="4228828"/>
            <a:ext cx="4320000" cy="4320000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EDB3DF25-4004-8C5B-7BE4-8338AE0A5330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4430" y="4228826"/>
            <a:ext cx="4320000" cy="4320000"/>
          </a:xfrm>
          <a:prstGeom prst="rect">
            <a:avLst/>
          </a:prstGeom>
        </p:spPr>
      </p:pic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12B15F47-7A57-5812-E28C-3E97E0A8FA89}"/>
              </a:ext>
            </a:extLst>
          </p:cNvPr>
          <p:cNvSpPr/>
          <p:nvPr/>
        </p:nvSpPr>
        <p:spPr>
          <a:xfrm>
            <a:off x="34485769" y="3918857"/>
            <a:ext cx="4053546" cy="332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Ink Free" panose="03080402000500000000" pitchFamily="66" charset="0"/>
              </a:rPr>
              <a:t>“Flower”</a:t>
            </a:r>
            <a:r>
              <a:rPr lang="ko-KR" altLang="en-US" sz="2000" b="1" dirty="0">
                <a:solidFill>
                  <a:schemeClr val="tx1"/>
                </a:solidFill>
                <a:latin typeface="Ink Free" panose="03080402000500000000" pitchFamily="66" charset="0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Ink Free" panose="03080402000500000000" pitchFamily="66" charset="0"/>
              </a:rPr>
              <a:t>-&gt;</a:t>
            </a:r>
            <a:r>
              <a:rPr lang="ko-KR" altLang="en-US" sz="2000" b="1" dirty="0">
                <a:solidFill>
                  <a:schemeClr val="tx1"/>
                </a:solidFill>
                <a:latin typeface="Ink Free" panose="03080402000500000000" pitchFamily="66" charset="0"/>
              </a:rPr>
              <a:t> </a:t>
            </a:r>
            <a:r>
              <a:rPr lang="en-US" altLang="ko-KR" sz="2000" b="1" dirty="0">
                <a:solidFill>
                  <a:srgbClr val="FFC000"/>
                </a:solidFill>
                <a:latin typeface="Ink Free" panose="03080402000500000000" pitchFamily="66" charset="0"/>
                <a:sym typeface="Wingdings" panose="05000000000000000000" pitchFamily="2" charset="2"/>
              </a:rPr>
              <a:t>“Sunflower”</a:t>
            </a:r>
            <a:endParaRPr lang="ko-KR" altLang="en-US" sz="2000" dirty="0"/>
          </a:p>
        </p:txBody>
      </p:sp>
      <p:pic>
        <p:nvPicPr>
          <p:cNvPr id="245" name="그림 244">
            <a:extLst>
              <a:ext uri="{FF2B5EF4-FFF2-40B4-BE49-F238E27FC236}">
                <a16:creationId xmlns:a16="http://schemas.microsoft.com/office/drawing/2014/main" id="{B5BD18AA-CBE5-7E54-7DEF-8072AD49521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84" t="43517" r="45480" b="31448"/>
          <a:stretch>
            <a:fillRect/>
          </a:stretch>
        </p:blipFill>
        <p:spPr>
          <a:xfrm>
            <a:off x="34092631" y="6381599"/>
            <a:ext cx="2160000" cy="2160000"/>
          </a:xfrm>
          <a:custGeom>
            <a:avLst/>
            <a:gdLst>
              <a:gd name="csX0" fmla="*/ 0 w 1191600"/>
              <a:gd name="csY0" fmla="*/ 0 h 1191600"/>
              <a:gd name="csX1" fmla="*/ 1191600 w 1191600"/>
              <a:gd name="csY1" fmla="*/ 0 h 1191600"/>
              <a:gd name="csX2" fmla="*/ 1191600 w 1191600"/>
              <a:gd name="csY2" fmla="*/ 1191600 h 1191600"/>
              <a:gd name="csX3" fmla="*/ 0 w 1191600"/>
              <a:gd name="csY3" fmla="*/ 1191600 h 1191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91600" h="1191600">
                <a:moveTo>
                  <a:pt x="0" y="0"/>
                </a:moveTo>
                <a:lnTo>
                  <a:pt x="1191600" y="0"/>
                </a:lnTo>
                <a:lnTo>
                  <a:pt x="1191600" y="1191600"/>
                </a:lnTo>
                <a:lnTo>
                  <a:pt x="0" y="1191600"/>
                </a:lnTo>
                <a:close/>
              </a:path>
            </a:pathLst>
          </a:custGeom>
        </p:spPr>
      </p:pic>
      <p:pic>
        <p:nvPicPr>
          <p:cNvPr id="246" name="그림 245">
            <a:extLst>
              <a:ext uri="{FF2B5EF4-FFF2-40B4-BE49-F238E27FC236}">
                <a16:creationId xmlns:a16="http://schemas.microsoft.com/office/drawing/2014/main" id="{FA3B4020-C416-8F13-9D78-D14DE4D4995B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31" t="43517" r="45333" b="31448"/>
          <a:stretch>
            <a:fillRect/>
          </a:stretch>
        </p:blipFill>
        <p:spPr>
          <a:xfrm>
            <a:off x="36814338" y="6381599"/>
            <a:ext cx="2160000" cy="2160000"/>
          </a:xfrm>
          <a:custGeom>
            <a:avLst/>
            <a:gdLst>
              <a:gd name="csX0" fmla="*/ 0 w 1191600"/>
              <a:gd name="csY0" fmla="*/ 0 h 1191600"/>
              <a:gd name="csX1" fmla="*/ 1191600 w 1191600"/>
              <a:gd name="csY1" fmla="*/ 0 h 1191600"/>
              <a:gd name="csX2" fmla="*/ 1191600 w 1191600"/>
              <a:gd name="csY2" fmla="*/ 1191600 h 1191600"/>
              <a:gd name="csX3" fmla="*/ 0 w 1191600"/>
              <a:gd name="csY3" fmla="*/ 1191600 h 1191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91600" h="1191600">
                <a:moveTo>
                  <a:pt x="0" y="0"/>
                </a:moveTo>
                <a:lnTo>
                  <a:pt x="1191600" y="0"/>
                </a:lnTo>
                <a:lnTo>
                  <a:pt x="1191600" y="1191600"/>
                </a:lnTo>
                <a:lnTo>
                  <a:pt x="0" y="1191600"/>
                </a:lnTo>
                <a:close/>
              </a:path>
            </a:pathLst>
          </a:custGeom>
        </p:spPr>
      </p:pic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7E7E503F-5432-28B7-F9ED-A18C9ED89EEC}"/>
              </a:ext>
            </a:extLst>
          </p:cNvPr>
          <p:cNvSpPr>
            <a:spLocks noChangeAspect="1"/>
          </p:cNvSpPr>
          <p:nvPr/>
        </p:nvSpPr>
        <p:spPr>
          <a:xfrm>
            <a:off x="31034736" y="6142176"/>
            <a:ext cx="1080000" cy="1080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02E16FF4-ECED-D03A-1CD2-B61ACC67CD51}"/>
              </a:ext>
            </a:extLst>
          </p:cNvPr>
          <p:cNvSpPr>
            <a:spLocks noChangeAspect="1"/>
          </p:cNvSpPr>
          <p:nvPr/>
        </p:nvSpPr>
        <p:spPr>
          <a:xfrm>
            <a:off x="40221408" y="6077386"/>
            <a:ext cx="1080000" cy="1080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9" name="호 248">
            <a:extLst>
              <a:ext uri="{FF2B5EF4-FFF2-40B4-BE49-F238E27FC236}">
                <a16:creationId xmlns:a16="http://schemas.microsoft.com/office/drawing/2014/main" id="{FE318490-AFFB-F4E8-E797-BACECF905CD9}"/>
              </a:ext>
            </a:extLst>
          </p:cNvPr>
          <p:cNvSpPr/>
          <p:nvPr/>
        </p:nvSpPr>
        <p:spPr>
          <a:xfrm rot="10800000">
            <a:off x="29777892" y="8383516"/>
            <a:ext cx="3496227" cy="33308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23E0A0E7-3018-2C68-71A8-3620A8BBB482}"/>
              </a:ext>
            </a:extLst>
          </p:cNvPr>
          <p:cNvSpPr txBox="1"/>
          <p:nvPr/>
        </p:nvSpPr>
        <p:spPr>
          <a:xfrm>
            <a:off x="31497145" y="8542687"/>
            <a:ext cx="862412" cy="38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4096</a:t>
            </a:r>
            <a:endParaRPr dirty="0"/>
          </a:p>
        </p:txBody>
      </p:sp>
      <p:sp>
        <p:nvSpPr>
          <p:cNvPr id="251" name="호 250">
            <a:extLst>
              <a:ext uri="{FF2B5EF4-FFF2-40B4-BE49-F238E27FC236}">
                <a16:creationId xmlns:a16="http://schemas.microsoft.com/office/drawing/2014/main" id="{B9FECAC6-D4EF-ADA0-81A5-A64F1883D10D}"/>
              </a:ext>
            </a:extLst>
          </p:cNvPr>
          <p:cNvSpPr/>
          <p:nvPr/>
        </p:nvSpPr>
        <p:spPr>
          <a:xfrm rot="10800000" flipH="1">
            <a:off x="30599462" y="8383516"/>
            <a:ext cx="3496227" cy="33308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2" name="호 251">
            <a:extLst>
              <a:ext uri="{FF2B5EF4-FFF2-40B4-BE49-F238E27FC236}">
                <a16:creationId xmlns:a16="http://schemas.microsoft.com/office/drawing/2014/main" id="{E8C153A7-7C41-D3EB-75B2-BB533B277C70}"/>
              </a:ext>
            </a:extLst>
          </p:cNvPr>
          <p:cNvSpPr/>
          <p:nvPr/>
        </p:nvSpPr>
        <p:spPr>
          <a:xfrm rot="10800000">
            <a:off x="38966633" y="8381522"/>
            <a:ext cx="3496227" cy="33308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442F298F-E577-0741-6A74-CE7120BD03BE}"/>
              </a:ext>
            </a:extLst>
          </p:cNvPr>
          <p:cNvSpPr txBox="1"/>
          <p:nvPr/>
        </p:nvSpPr>
        <p:spPr>
          <a:xfrm>
            <a:off x="40685886" y="8540693"/>
            <a:ext cx="862412" cy="38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4096</a:t>
            </a:r>
            <a:endParaRPr dirty="0"/>
          </a:p>
        </p:txBody>
      </p:sp>
      <p:sp>
        <p:nvSpPr>
          <p:cNvPr id="254" name="호 253">
            <a:extLst>
              <a:ext uri="{FF2B5EF4-FFF2-40B4-BE49-F238E27FC236}">
                <a16:creationId xmlns:a16="http://schemas.microsoft.com/office/drawing/2014/main" id="{2777EE3A-8A03-2C35-7EED-AF7DCD184328}"/>
              </a:ext>
            </a:extLst>
          </p:cNvPr>
          <p:cNvSpPr/>
          <p:nvPr/>
        </p:nvSpPr>
        <p:spPr>
          <a:xfrm rot="10800000" flipH="1">
            <a:off x="39788203" y="8381522"/>
            <a:ext cx="3496227" cy="333080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5" name="호 254">
            <a:extLst>
              <a:ext uri="{FF2B5EF4-FFF2-40B4-BE49-F238E27FC236}">
                <a16:creationId xmlns:a16="http://schemas.microsoft.com/office/drawing/2014/main" id="{DB0AA712-321A-9E05-9D4F-266772572528}"/>
              </a:ext>
            </a:extLst>
          </p:cNvPr>
          <p:cNvSpPr/>
          <p:nvPr/>
        </p:nvSpPr>
        <p:spPr>
          <a:xfrm rot="10800000">
            <a:off x="34086655" y="8392715"/>
            <a:ext cx="1344405" cy="281102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99B4FC08-CA57-9DBE-25A0-23BA2D53CAC7}"/>
              </a:ext>
            </a:extLst>
          </p:cNvPr>
          <p:cNvSpPr txBox="1"/>
          <p:nvPr/>
        </p:nvSpPr>
        <p:spPr>
          <a:xfrm>
            <a:off x="34763826" y="8551886"/>
            <a:ext cx="831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1024</a:t>
            </a:r>
            <a:endParaRPr dirty="0"/>
          </a:p>
        </p:txBody>
      </p:sp>
      <p:sp>
        <p:nvSpPr>
          <p:cNvPr id="257" name="호 256">
            <a:extLst>
              <a:ext uri="{FF2B5EF4-FFF2-40B4-BE49-F238E27FC236}">
                <a16:creationId xmlns:a16="http://schemas.microsoft.com/office/drawing/2014/main" id="{DEAD7F8B-06AB-49E7-DF1C-E02E3537501E}"/>
              </a:ext>
            </a:extLst>
          </p:cNvPr>
          <p:cNvSpPr/>
          <p:nvPr/>
        </p:nvSpPr>
        <p:spPr>
          <a:xfrm rot="10800000" flipH="1">
            <a:off x="34908226" y="8392715"/>
            <a:ext cx="1344405" cy="281102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8" name="호 257">
            <a:extLst>
              <a:ext uri="{FF2B5EF4-FFF2-40B4-BE49-F238E27FC236}">
                <a16:creationId xmlns:a16="http://schemas.microsoft.com/office/drawing/2014/main" id="{12BAA6FD-E405-4A6E-6323-31CCE3A846FC}"/>
              </a:ext>
            </a:extLst>
          </p:cNvPr>
          <p:cNvSpPr/>
          <p:nvPr/>
        </p:nvSpPr>
        <p:spPr>
          <a:xfrm rot="10800000">
            <a:off x="36807688" y="8385452"/>
            <a:ext cx="1344405" cy="281102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9D1FF044-0A68-7960-5D64-9E08FA64CF20}"/>
              </a:ext>
            </a:extLst>
          </p:cNvPr>
          <p:cNvSpPr txBox="1"/>
          <p:nvPr/>
        </p:nvSpPr>
        <p:spPr>
          <a:xfrm>
            <a:off x="37484859" y="8544623"/>
            <a:ext cx="831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1024</a:t>
            </a:r>
            <a:endParaRPr dirty="0"/>
          </a:p>
        </p:txBody>
      </p:sp>
      <p:sp>
        <p:nvSpPr>
          <p:cNvPr id="260" name="호 259">
            <a:extLst>
              <a:ext uri="{FF2B5EF4-FFF2-40B4-BE49-F238E27FC236}">
                <a16:creationId xmlns:a16="http://schemas.microsoft.com/office/drawing/2014/main" id="{81F916AB-2461-95E3-71E4-2A99D7DAEB85}"/>
              </a:ext>
            </a:extLst>
          </p:cNvPr>
          <p:cNvSpPr/>
          <p:nvPr/>
        </p:nvSpPr>
        <p:spPr>
          <a:xfrm rot="10800000" flipH="1">
            <a:off x="37629259" y="8385452"/>
            <a:ext cx="1344405" cy="281102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1A6A035F-4E2A-C9FE-B10D-406FC7493E24}"/>
              </a:ext>
            </a:extLst>
          </p:cNvPr>
          <p:cNvSpPr txBox="1"/>
          <p:nvPr/>
        </p:nvSpPr>
        <p:spPr>
          <a:xfrm>
            <a:off x="29604430" y="8940066"/>
            <a:ext cx="648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sz="2400" b="1" dirty="0">
                <a:solidFill>
                  <a:schemeClr val="tx1"/>
                </a:solidFill>
              </a:rPr>
              <a:t>Qua</a:t>
            </a:r>
            <a:r>
              <a:rPr lang="en-US" altLang="ko-KR" sz="2400" b="1" dirty="0" err="1"/>
              <a:t>nt</a:t>
            </a:r>
            <a:r>
              <a:rPr lang="en" altLang="ko-Kore-KR" sz="2400" b="1" dirty="0" err="1">
                <a:solidFill>
                  <a:schemeClr val="tx1"/>
                </a:solidFill>
              </a:rPr>
              <a:t>itative</a:t>
            </a:r>
            <a:r>
              <a:rPr lang="en" altLang="ko-Kore-KR" sz="2400" b="1" dirty="0">
                <a:solidFill>
                  <a:schemeClr val="tx1"/>
                </a:solidFill>
              </a:rPr>
              <a:t> Result</a:t>
            </a:r>
            <a:r>
              <a:rPr lang="en-US" altLang="ko-KR" sz="2400" b="1" dirty="0">
                <a:solidFill>
                  <a:schemeClr val="tx1"/>
                </a:solidFill>
              </a:rPr>
              <a:t>s</a:t>
            </a:r>
            <a:endParaRPr lang="en-KR" altLang="ko-Kore-KR" sz="2000" b="1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E4DA335C-57B9-A8C8-CAA1-0A95425BD91B}"/>
              </a:ext>
            </a:extLst>
          </p:cNvPr>
          <p:cNvSpPr txBox="1"/>
          <p:nvPr/>
        </p:nvSpPr>
        <p:spPr>
          <a:xfrm>
            <a:off x="39447644" y="3560010"/>
            <a:ext cx="38208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1D1C1D"/>
                </a:solidFill>
                <a:latin typeface="BM YEONSUNG OTF" panose="020B0600000101010101" pitchFamily="34" charset="-127"/>
                <a:ea typeface="BM YEONSUNG OTF" panose="020B0600000101010101" pitchFamily="34" charset="-127"/>
              </a:rPr>
              <a:t>For more, check our project page!</a:t>
            </a:r>
            <a:endParaRPr lang="ko-KR" altLang="en-US" sz="2000" dirty="0">
              <a:latin typeface="BM YEONSUNG OTF" panose="020B0600000101010101" pitchFamily="34" charset="-127"/>
              <a:ea typeface="BM YEONSUNG OTF" panose="020B0600000101010101" pitchFamily="34" charset="-127"/>
            </a:endParaRPr>
          </a:p>
        </p:txBody>
      </p:sp>
      <p:cxnSp>
        <p:nvCxnSpPr>
          <p:cNvPr id="265" name="구부러진 연결선[U] 264">
            <a:extLst>
              <a:ext uri="{FF2B5EF4-FFF2-40B4-BE49-F238E27FC236}">
                <a16:creationId xmlns:a16="http://schemas.microsoft.com/office/drawing/2014/main" id="{9E42B896-F4A5-2575-CF9A-FDF02B3F3C9C}"/>
              </a:ext>
            </a:extLst>
          </p:cNvPr>
          <p:cNvCxnSpPr>
            <a:cxnSpLocks/>
          </p:cNvCxnSpPr>
          <p:nvPr/>
        </p:nvCxnSpPr>
        <p:spPr>
          <a:xfrm rot="10800000">
            <a:off x="37439600" y="2389332"/>
            <a:ext cx="2085050" cy="1361112"/>
          </a:xfrm>
          <a:prstGeom prst="curved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24E59B14-6DA9-13B8-AA52-FEEFE884D611}"/>
              </a:ext>
            </a:extLst>
          </p:cNvPr>
          <p:cNvSpPr txBox="1"/>
          <p:nvPr/>
        </p:nvSpPr>
        <p:spPr>
          <a:xfrm>
            <a:off x="36512542" y="8953421"/>
            <a:ext cx="648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2400" b="1" dirty="0"/>
              <a:t>Ablation Study</a:t>
            </a:r>
            <a:endParaRPr lang="en" altLang="ko-Kore-KR" sz="2000" b="1" dirty="0">
              <a:solidFill>
                <a:schemeClr val="tx1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C09B43F-EEA8-2EDF-9220-194DE7C0FC18}"/>
              </a:ext>
            </a:extLst>
          </p:cNvPr>
          <p:cNvSpPr txBox="1"/>
          <p:nvPr/>
        </p:nvSpPr>
        <p:spPr>
          <a:xfrm>
            <a:off x="36512542" y="12547036"/>
            <a:ext cx="162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Input</a:t>
            </a:r>
            <a:r>
              <a:rPr lang="en-US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ore-KR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3CD3C18C-BF90-52AE-BDF4-C9AF3A7FC923}"/>
              </a:ext>
            </a:extLst>
          </p:cNvPr>
          <p:cNvSpPr txBox="1"/>
          <p:nvPr/>
        </p:nvSpPr>
        <p:spPr>
          <a:xfrm>
            <a:off x="38188668" y="12547036"/>
            <a:ext cx="16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Tiled Inv.</a:t>
            </a:r>
          </a:p>
          <a:p>
            <a:pPr algn="ctr"/>
            <a:r>
              <a:rPr lang="en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" altLang="ko-Kore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ScaleCrafter</a:t>
            </a:r>
            <a:endParaRPr lang="en" altLang="ko-Kore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EAD7C82C-EF4E-2C50-531B-9368520953D9}"/>
              </a:ext>
            </a:extLst>
          </p:cNvPr>
          <p:cNvSpPr txBox="1"/>
          <p:nvPr/>
        </p:nvSpPr>
        <p:spPr>
          <a:xfrm>
            <a:off x="39864794" y="12547036"/>
            <a:ext cx="16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ko-Kore-KR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Ours </a:t>
            </a:r>
            <a:r>
              <a:rPr lang="en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w/o      </a:t>
            </a:r>
            <a:r>
              <a:rPr lang="en" altLang="ko-Kore-K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NDCFG++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36D69CC0-EBDE-1E03-7DF6-720C6B743A8C}"/>
              </a:ext>
            </a:extLst>
          </p:cNvPr>
          <p:cNvSpPr txBox="1"/>
          <p:nvPr/>
        </p:nvSpPr>
        <p:spPr>
          <a:xfrm>
            <a:off x="41540920" y="12547036"/>
            <a:ext cx="162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ore-KR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ko-Kore-KR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Ours</a:t>
            </a:r>
            <a:endParaRPr lang="ko-Kore-KR" altLang="ko-Kore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모서리가 둥근 직사각형 278">
            <a:extLst>
              <a:ext uri="{FF2B5EF4-FFF2-40B4-BE49-F238E27FC236}">
                <a16:creationId xmlns:a16="http://schemas.microsoft.com/office/drawing/2014/main" id="{086CDE4D-17E4-4318-6583-E7ECDADC3DE6}"/>
              </a:ext>
            </a:extLst>
          </p:cNvPr>
          <p:cNvSpPr/>
          <p:nvPr/>
        </p:nvSpPr>
        <p:spPr>
          <a:xfrm>
            <a:off x="18857132" y="16056353"/>
            <a:ext cx="6267796" cy="7866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5E6DF418-17E6-1FE0-673F-5498F1279670}"/>
                  </a:ext>
                </a:extLst>
              </p:cNvPr>
              <p:cNvSpPr txBox="1"/>
              <p:nvPr/>
            </p:nvSpPr>
            <p:spPr>
              <a:xfrm>
                <a:off x="22099098" y="16087763"/>
                <a:ext cx="2820947" cy="7439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" altLang="ko-Kore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ko-Kore-KR" sz="240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kumimoji="1" lang="en" altLang="ko-Kore-K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kumimoji="1" lang="en" altLang="ko-Kore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" altLang="ko-Kore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ko-Kore-K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" altLang="ko-Kore-K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kumimoji="1" lang="en" altLang="ko-Kore-KR" sz="2400" i="1">
                          <a:latin typeface="Cambria Math" panose="02040503050406030204" pitchFamily="18" charset="0"/>
                        </a:rPr>
                        <m:t>:=</m:t>
                      </m:r>
                      <m:sSub>
                        <m:sSubPr>
                          <m:ctrlPr>
                            <a:rPr kumimoji="1" lang="en" altLang="ko-Kore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" altLang="ko-Kore-KR" sz="240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kumimoji="1" lang="en" altLang="ko-Kore-KR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1" lang="en" altLang="ko-Kore-K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" altLang="ko-Kore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ko-Kore-K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" altLang="ko-Kore-K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kumimoji="1" lang="en" altLang="ko-Kore-KR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" altLang="ko-Kore-K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" altLang="ko-Kore-KR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" altLang="ko-Kore-KR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kumimoji="1" lang="en-US" altLang="ko-Kore-K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ore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40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kumimoji="1" lang="en-US" altLang="ko-Kore-K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sub>
                      </m:sSub>
                      <m:d>
                        <m:dPr>
                          <m:ctrlPr>
                            <a:rPr kumimoji="1" lang="en-US" altLang="ko-Kore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ore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ko-Kore-K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kumimoji="1" lang="en-US" altLang="ko-Kore-KR" sz="2400" i="1">
                          <a:latin typeface="Cambria Math" panose="02040503050406030204" pitchFamily="18" charset="0"/>
                        </a:rPr>
                        <m:t> :=</m:t>
                      </m:r>
                      <m:sSub>
                        <m:sSubPr>
                          <m:ctrlPr>
                            <a:rPr kumimoji="1" lang="en-US" altLang="ko-Kore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40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kumimoji="1" lang="en-US" altLang="ko-Kore-KR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kumimoji="1" lang="en-US" altLang="ko-Kore-KR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ore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ko-Kore-K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ko-Kore-KR" sz="2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ko-Kore-KR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ko-Kore-KR" sz="2400" i="1">
                          <a:latin typeface="Cambria Math" panose="02040503050406030204" pitchFamily="18" charset="0"/>
                        </a:rPr>
                        <m:t>, ∅)</m:t>
                      </m:r>
                    </m:oMath>
                  </m:oMathPara>
                </a14:m>
                <a:endParaRPr kumimoji="1" lang="ko-Kore-KR" altLang="en-US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5E6DF418-17E6-1FE0-673F-5498F1279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9098" y="16087763"/>
                <a:ext cx="2820947" cy="743922"/>
              </a:xfrm>
              <a:prstGeom prst="rect">
                <a:avLst/>
              </a:prstGeom>
              <a:blipFill>
                <a:blip r:embed="rId40"/>
                <a:stretch>
                  <a:fillRect r="-1794" b="-13333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4750D419-27B4-C2D7-8B90-410ECC46DCB3}"/>
                  </a:ext>
                </a:extLst>
              </p:cNvPr>
              <p:cNvSpPr txBox="1"/>
              <p:nvPr/>
            </p:nvSpPr>
            <p:spPr>
              <a:xfrm>
                <a:off x="19091996" y="16090392"/>
                <a:ext cx="2502099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" altLang="ko-Kore-KR" sz="24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kumimoji="1" lang="en" altLang="ko-Kore-KR" sz="2400" i="1">
                        <a:latin typeface="Cambria Math" panose="02040503050406030204" pitchFamily="18" charset="0"/>
                      </a:rPr>
                      <m:t>:=</m:t>
                    </m:r>
                  </m:oMath>
                </a14:m>
                <a:r>
                  <a:rPr kumimoji="1" lang="en-US" altLang="ko-Kore-KR" sz="2400" i="1" dirty="0"/>
                  <a:t> Vanilla U-Net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en" altLang="ko-Kore-K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" altLang="ko-Kore-KR" sz="2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  <m:r>
                      <a:rPr kumimoji="1" lang="en" altLang="ko-Kore-KR" sz="2400" i="1">
                        <a:latin typeface="Cambria Math" panose="02040503050406030204" pitchFamily="18" charset="0"/>
                      </a:rPr>
                      <m:t>:=</m:t>
                    </m:r>
                  </m:oMath>
                </a14:m>
                <a:r>
                  <a:rPr kumimoji="1" lang="en-US" altLang="ko-Kore-KR" sz="2400" i="1" dirty="0"/>
                  <a:t> Dilated U-Net</a:t>
                </a:r>
                <a:endParaRPr kumimoji="1" lang="ko-Kore-KR" altLang="en-US" sz="2400" i="1" dirty="0"/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4750D419-27B4-C2D7-8B90-410ECC46D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1996" y="16090392"/>
                <a:ext cx="2502099" cy="738664"/>
              </a:xfrm>
              <a:prstGeom prst="rect">
                <a:avLst/>
              </a:prstGeom>
              <a:blipFill>
                <a:blip r:embed="rId41"/>
                <a:stretch>
                  <a:fillRect l="-3030" t="-13559" r="-2020" b="-23729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20C706BA-DC20-6633-FE94-4E280209FB58}"/>
              </a:ext>
            </a:extLst>
          </p:cNvPr>
          <p:cNvSpPr/>
          <p:nvPr/>
        </p:nvSpPr>
        <p:spPr>
          <a:xfrm>
            <a:off x="18304625" y="17063205"/>
            <a:ext cx="7408674" cy="13973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1044C6B3-435E-1CED-F4CC-775045BF615D}"/>
                  </a:ext>
                </a:extLst>
              </p:cNvPr>
              <p:cNvSpPr txBox="1"/>
              <p:nvPr/>
            </p:nvSpPr>
            <p:spPr>
              <a:xfrm>
                <a:off x="20392484" y="17087042"/>
                <a:ext cx="5398657" cy="1269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ko-Kore-KR" alt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ore-KR" alt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ko-Kore-KR" alt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ko-Kore-KR" alt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d>
                      <m:dPr>
                        <m:ctrlPr>
                          <a:rPr lang="ko-Kore-KR" alt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ore-KR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ko-Kore-KR" alt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ore-KR" alt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ko-Kore-KR" altLang="en-US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∅</m:t>
                        </m:r>
                      </m:sub>
                    </m:sSub>
                    <m:d>
                      <m:dPr>
                        <m:ctrlPr>
                          <a:rPr lang="ko-Kore-KR" alt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ore-KR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ko-Kore-KR" alt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begChr m:val="["/>
                        <m:endChr m:val="]"/>
                        <m:ctrlPr>
                          <a:rPr lang="ko-Kore-KR" alt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ko-Kore-KR" alt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ore-KR" alt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ko-Kore-KR" alt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ko-Kore-KR" altLang="en-US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ko-Kore-KR" altLang="en-US" sz="24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∅</m:t>
                            </m:r>
                          </m:sub>
                        </m:sSub>
                        <m:d>
                          <m:dPr>
                            <m:ctrlPr>
                              <a:rPr lang="ko-Kore-KR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ko-Kore-KR" alt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ore-KR" alt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ko-Kore-KR" alt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ko-Kore-KR" sz="24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ko-Kore-KR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d>
                      <m:dPr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ko-Kore-KR" altLang="en-US" sz="240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ore-KR" altLang="en-US" sz="2400"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ore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  <m:r>
                      <m:rPr>
                        <m:nor/>
                      </m:rPr>
                      <a:rPr lang="ko-Kore-KR" altLang="en-US" sz="2400" i="1">
                        <a:latin typeface="Cambria Math" panose="02040503050406030204" pitchFamily="18" charset="0"/>
                      </a:rPr>
                      <m:t> </m:t>
                    </m:r>
                    <m:sSubSup>
                      <m:sSubSupPr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d>
                      <m:dPr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kumimoji="1" lang="en-US" altLang="ko-Kore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∕</m:t>
                    </m:r>
                    <m:rad>
                      <m:radPr>
                        <m:degHide m:val="on"/>
                        <m:ctrlPr>
                          <a:rPr kumimoji="1" lang="ko-Kore-KR" alt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ore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ko-Kore-KR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ko-Kore-KR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ore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ore-KR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ko-Kore-KR" altLang="en-US" sz="24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ore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r>
                      <m:rPr>
                        <m:nor/>
                      </m:rPr>
                      <a:rPr lang="ko-Kore-KR" altLang="en-US" sz="2400" i="1">
                        <a:latin typeface="Cambria Math" panose="02040503050406030204" pitchFamily="18" charset="0"/>
                      </a:rPr>
                      <m:t> </m:t>
                    </m:r>
                    <m:sSubSup>
                      <m:sSubSupPr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d>
                      <m:dPr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ore-KR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ore-KR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ko-Kore-KR" altLang="en-US" sz="24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ore-KR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r>
                      <m:rPr>
                        <m:nor/>
                      </m:rPr>
                      <a:rPr lang="ko-Kore-KR" altLang="en-US" sz="2400" i="1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ore-KR" altLang="en-US" sz="2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ko-Kore-KR" altLang="en-US" sz="2400">
                            <a:latin typeface="Cambria Math" panose="02040503050406030204" pitchFamily="18" charset="0"/>
                          </a:rPr>
                          <m:t>∅</m:t>
                        </m:r>
                      </m:sub>
                    </m:sSub>
                    <m:d>
                      <m:dPr>
                        <m:ctrlPr>
                          <a:rPr lang="ko-Kore-KR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ko-Kore-KR" alt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ore-KR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1044C6B3-435E-1CED-F4CC-775045BF6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2484" y="17087042"/>
                <a:ext cx="5398657" cy="1269065"/>
              </a:xfrm>
              <a:prstGeom prst="rect">
                <a:avLst/>
              </a:prstGeom>
              <a:blipFill>
                <a:blip r:embed="rId42"/>
                <a:stretch>
                  <a:fillRect l="-1408" b="-7921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TextBox 283">
            <a:extLst>
              <a:ext uri="{FF2B5EF4-FFF2-40B4-BE49-F238E27FC236}">
                <a16:creationId xmlns:a16="http://schemas.microsoft.com/office/drawing/2014/main" id="{CF6BA879-27F4-9513-147F-2A1AA8897DEA}"/>
              </a:ext>
            </a:extLst>
          </p:cNvPr>
          <p:cNvSpPr txBox="1"/>
          <p:nvPr/>
        </p:nvSpPr>
        <p:spPr>
          <a:xfrm>
            <a:off x="18378191" y="17516556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400" dirty="0">
                <a:solidFill>
                  <a:srgbClr val="00B050"/>
                </a:solidFill>
              </a:rPr>
              <a:t>Vanilla CFG</a:t>
            </a:r>
            <a:endParaRPr sz="2400" dirty="0">
              <a:solidFill>
                <a:srgbClr val="00B050"/>
              </a:solidFill>
            </a:endParaRPr>
          </a:p>
        </p:txBody>
      </p:sp>
      <p:sp>
        <p:nvSpPr>
          <p:cNvPr id="285" name="모서리가 둥근 직사각형 284">
            <a:extLst>
              <a:ext uri="{FF2B5EF4-FFF2-40B4-BE49-F238E27FC236}">
                <a16:creationId xmlns:a16="http://schemas.microsoft.com/office/drawing/2014/main" id="{D6941C95-A0BC-17A5-537A-B2BE97247B74}"/>
              </a:ext>
            </a:extLst>
          </p:cNvPr>
          <p:cNvSpPr/>
          <p:nvPr/>
        </p:nvSpPr>
        <p:spPr>
          <a:xfrm>
            <a:off x="18304625" y="20198834"/>
            <a:ext cx="7408674" cy="13973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B9CBF765-A934-A283-1105-74FAD9C32760}"/>
                  </a:ext>
                </a:extLst>
              </p:cNvPr>
              <p:cNvSpPr txBox="1"/>
              <p:nvPr/>
            </p:nvSpPr>
            <p:spPr>
              <a:xfrm>
                <a:off x="20470325" y="20178503"/>
                <a:ext cx="5242974" cy="14144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" altLang="ko-Kore-KR" sz="240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kumimoji="1" lang="en-US" altLang="ko-Kore-K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kumimoji="1" lang="en-US" altLang="ko-Kore-KR" sz="2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ore-KR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acc>
                      </m:e>
                      <m:sub>
                        <m:r>
                          <a:rPr kumimoji="1" lang="en-US" altLang="ko-Kore-K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kumimoji="1" lang="en-US" altLang="ko-Kore-K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  <m:d>
                      <m:dPr>
                        <m:ctrlPr>
                          <a:rPr kumimoji="1" lang="en-US" altLang="ko-Kore-K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" altLang="ko-Kore-KR" sz="2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ko-Kore-KR" sz="2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" altLang="ko-Kore-KR" sz="2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kumimoji="1" lang="en" altLang="ko-Kore-KR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" altLang="ko-Kore-K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ore-K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kumimoji="1" lang="en" altLang="ko-Kore-K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sub>
                    </m:sSub>
                    <m:d>
                      <m:dPr>
                        <m:ctrlPr>
                          <a:rPr kumimoji="1" lang="en" altLang="ko-Kore-K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" altLang="ko-Kore-KR" sz="2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ko-Kore-K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" altLang="ko-Kore-K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kumimoji="1" lang="en" altLang="ko-Kore-KR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" altLang="ko-Kore-KR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begChr m:val="["/>
                        <m:endChr m:val="]"/>
                        <m:ctrlPr>
                          <a:rPr kumimoji="1" lang="en" altLang="ko-Kore-KR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ore-KR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kumimoji="1" lang="en" altLang="ko-Kore-KR" sz="24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ko-Kore-KR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ko-Kore-KR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kumimoji="1" lang="en" altLang="ko-Kore-KR" sz="2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" altLang="ko-Kore-KR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" altLang="ko-Kore-KR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" altLang="ko-Kore-KR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ko-Kore-K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ko-Kore-KR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kumimoji="1" lang="en" altLang="ko-Kore-KR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ko-Kore-KR" sz="2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acc>
                          </m:e>
                          <m:sub>
                            <m:r>
                              <a:rPr kumimoji="1" lang="en" altLang="ko-Kore-KR" sz="2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sub>
                        </m:sSub>
                        <m:d>
                          <m:dPr>
                            <m:ctrlPr>
                              <a:rPr kumimoji="1" lang="en" altLang="ko-Kore-K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" altLang="ko-Kore-KR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" altLang="ko-Kore-KR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" altLang="ko-Kore-KR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kumimoji="1" lang="en-US" altLang="ko-Kore-KR" sz="2400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  <a:endParaRPr kumimoji="1" lang="en-US" altLang="ko-Kore-KR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ore-KR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kumimoji="1" lang="en-US" altLang="ko-Kore-K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kumimoji="1" lang="en-US" altLang="ko-Kore-KR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kumimoji="1" lang="en-US" altLang="ko-Kore-KR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  <m:d>
                      <m:dPr>
                        <m:ctrlPr>
                          <a:rPr kumimoji="1" lang="en-US" altLang="ko-Kore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" altLang="ko-Kore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ko-Kore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" altLang="ko-Kore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kumimoji="1" lang="en-US" altLang="ko-Kore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d>
                      <m:dPr>
                        <m:ctrlPr>
                          <a:rPr kumimoji="1" lang="en-US" altLang="ko-Kore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ore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ko-Kore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ko-Kore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kumimoji="1" lang="ko-Kore-KR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ko-Kore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kumimoji="1" lang="en-US" altLang="ko-Kore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ore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kumimoji="1" lang="en-US" altLang="ko-Kore-K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Sup>
                          <m:sSubSupPr>
                            <m:ctrlPr>
                              <a:rPr kumimoji="1" lang="en-US" altLang="ko-Kore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kumimoji="1" lang="en-US" altLang="ko-Kore-KR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ko-Kore-KR" sz="2400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</m:acc>
                          </m:e>
                          <m:sub>
                            <m:r>
                              <a:rPr kumimoji="1" lang="en-US" altLang="ko-Kore-KR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bSup>
                        <m:d>
                          <m:dPr>
                            <m:ctrlPr>
                              <a:rPr kumimoji="1" lang="en-US" altLang="ko-Kore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" altLang="ko-Kore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" altLang="ko-Kore-KR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1" lang="en" altLang="ko-Kore-KR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kumimoji="1" lang="en-US" altLang="ko-Kore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∕</m:t>
                    </m:r>
                    <m:rad>
                      <m:radPr>
                        <m:degHide m:val="on"/>
                        <m:ctrlPr>
                          <a:rPr kumimoji="1" lang="ko-Kore-KR" alt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ore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kumimoji="1" lang="en-US" altLang="ko-Kore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</m:oMath>
                </a14:m>
                <a:r>
                  <a:rPr kumimoji="1" lang="en-US" altLang="ko-Kore-KR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ore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ore-K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ko-Kore-KR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ko-Kore-KR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ko-Kore-KR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kumimoji="1" lang="en-US" altLang="ko-Kore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ko-Kore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rad>
                    <m:sSubSup>
                      <m:sSubSupPr>
                        <m:ctrlPr>
                          <a:rPr kumimoji="1" lang="en-US" altLang="ko-Kore-KR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ore-K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ore-KR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kumimoji="1" lang="en-US" altLang="ko-Kore-KR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  <m:d>
                      <m:dPr>
                        <m:ctrlPr>
                          <a:rPr kumimoji="1" lang="en-US" altLang="ko-Kore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" altLang="ko-Kore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ko-Kore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" altLang="ko-Kore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kumimoji="1" lang="en-US" altLang="ko-Kore-KR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kumimoji="1" lang="ko-Kore-KR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ko-Kore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kumimoji="1" lang="en-US" altLang="ko-Kore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ko-Kore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kumimoji="1" lang="en" altLang="ko-Kore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ore-KR" sz="2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kumimoji="1" lang="en" altLang="ko-Kore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sub>
                    </m:sSub>
                    <m:d>
                      <m:dPr>
                        <m:ctrlPr>
                          <a:rPr kumimoji="1" lang="en" altLang="ko-Kore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" altLang="ko-Kore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ko-Kore-K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" altLang="ko-Kore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ko-Kore-KR" sz="2400" dirty="0"/>
                  <a:t> </a:t>
                </a:r>
                <a:endParaRPr kumimoji="1" lang="ko-Kore-KR" altLang="en-US" sz="24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B9CBF765-A934-A283-1105-74FAD9C32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0325" y="20178503"/>
                <a:ext cx="5242974" cy="1414490"/>
              </a:xfrm>
              <a:prstGeom prst="rect">
                <a:avLst/>
              </a:prstGeom>
              <a:blipFill>
                <a:blip r:embed="rId43"/>
                <a:stretch>
                  <a:fillRect l="-3382" t="-2655" b="-4425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" name="TextBox 286">
            <a:extLst>
              <a:ext uri="{FF2B5EF4-FFF2-40B4-BE49-F238E27FC236}">
                <a16:creationId xmlns:a16="http://schemas.microsoft.com/office/drawing/2014/main" id="{D156473C-1087-20E8-3997-C8C477995888}"/>
              </a:ext>
            </a:extLst>
          </p:cNvPr>
          <p:cNvSpPr txBox="1"/>
          <p:nvPr/>
        </p:nvSpPr>
        <p:spPr>
          <a:xfrm>
            <a:off x="18440283" y="20685200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400" dirty="0">
                <a:solidFill>
                  <a:srgbClr val="0070C0"/>
                </a:solidFill>
              </a:rPr>
              <a:t>NDCFG++</a:t>
            </a:r>
            <a:endParaRPr sz="2400" dirty="0">
              <a:solidFill>
                <a:srgbClr val="0070C0"/>
              </a:solidFill>
            </a:endParaRPr>
          </a:p>
        </p:txBody>
      </p:sp>
      <p:cxnSp>
        <p:nvCxnSpPr>
          <p:cNvPr id="289" name="직선 연결선[R] 288">
            <a:extLst>
              <a:ext uri="{FF2B5EF4-FFF2-40B4-BE49-F238E27FC236}">
                <a16:creationId xmlns:a16="http://schemas.microsoft.com/office/drawing/2014/main" id="{A462DB2F-C149-79F0-190B-9575A3CC8376}"/>
              </a:ext>
            </a:extLst>
          </p:cNvPr>
          <p:cNvCxnSpPr>
            <a:cxnSpLocks/>
            <a:endCxn id="245" idx="0"/>
          </p:cNvCxnSpPr>
          <p:nvPr/>
        </p:nvCxnSpPr>
        <p:spPr>
          <a:xfrm>
            <a:off x="32121356" y="6140614"/>
            <a:ext cx="1971275" cy="24098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3" name="직선 연결선[R] 292">
            <a:extLst>
              <a:ext uri="{FF2B5EF4-FFF2-40B4-BE49-F238E27FC236}">
                <a16:creationId xmlns:a16="http://schemas.microsoft.com/office/drawing/2014/main" id="{39B25B57-E97A-63EB-8DB9-851375AAC6DA}"/>
              </a:ext>
            </a:extLst>
          </p:cNvPr>
          <p:cNvCxnSpPr>
            <a:cxnSpLocks/>
            <a:endCxn id="255" idx="2"/>
          </p:cNvCxnSpPr>
          <p:nvPr/>
        </p:nvCxnSpPr>
        <p:spPr>
          <a:xfrm>
            <a:off x="32121356" y="7222176"/>
            <a:ext cx="1965299" cy="131109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8" name="직선 연결선[R] 297">
            <a:extLst>
              <a:ext uri="{FF2B5EF4-FFF2-40B4-BE49-F238E27FC236}">
                <a16:creationId xmlns:a16="http://schemas.microsoft.com/office/drawing/2014/main" id="{1BEBC190-E590-9512-59B2-DD70E8F1FC5E}"/>
              </a:ext>
            </a:extLst>
          </p:cNvPr>
          <p:cNvCxnSpPr>
            <a:cxnSpLocks/>
            <a:stCxn id="237" idx="1"/>
          </p:cNvCxnSpPr>
          <p:nvPr/>
        </p:nvCxnSpPr>
        <p:spPr>
          <a:xfrm flipV="1">
            <a:off x="38964430" y="6072156"/>
            <a:ext cx="1244721" cy="31667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9" name="직선 연결선[R] 298">
            <a:extLst>
              <a:ext uri="{FF2B5EF4-FFF2-40B4-BE49-F238E27FC236}">
                <a16:creationId xmlns:a16="http://schemas.microsoft.com/office/drawing/2014/main" id="{FD856DE1-4A1F-70B8-F26B-6D62208CED2E}"/>
              </a:ext>
            </a:extLst>
          </p:cNvPr>
          <p:cNvCxnSpPr>
            <a:cxnSpLocks/>
            <a:stCxn id="260" idx="2"/>
          </p:cNvCxnSpPr>
          <p:nvPr/>
        </p:nvCxnSpPr>
        <p:spPr>
          <a:xfrm flipV="1">
            <a:off x="38973664" y="7172370"/>
            <a:ext cx="1230597" cy="135363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2" name="TextBox 311">
            <a:extLst>
              <a:ext uri="{FF2B5EF4-FFF2-40B4-BE49-F238E27FC236}">
                <a16:creationId xmlns:a16="http://schemas.microsoft.com/office/drawing/2014/main" id="{D9718AE5-0BDE-F62E-EFC0-CBB60592095E}"/>
              </a:ext>
            </a:extLst>
          </p:cNvPr>
          <p:cNvSpPr txBox="1"/>
          <p:nvPr/>
        </p:nvSpPr>
        <p:spPr>
          <a:xfrm>
            <a:off x="39925519" y="13167485"/>
            <a:ext cx="3330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2400" b="1" dirty="0"/>
              <a:t>User Study Preference</a:t>
            </a:r>
            <a:endParaRPr lang="en-KR" altLang="ko-Kore-KR" sz="2400" b="1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A838E79A-D6B1-96CA-F80E-1093CB79245B}"/>
              </a:ext>
            </a:extLst>
          </p:cNvPr>
          <p:cNvSpPr txBox="1"/>
          <p:nvPr/>
        </p:nvSpPr>
        <p:spPr>
          <a:xfrm>
            <a:off x="29697816" y="13167485"/>
            <a:ext cx="1008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2400" b="1" dirty="0"/>
              <a:t>Comparison to SOTA Editing Method</a:t>
            </a:r>
            <a:r>
              <a:rPr lang="ko-KR" altLang="en-US" sz="2400" b="1" dirty="0"/>
              <a:t> </a:t>
            </a:r>
            <a:r>
              <a:rPr lang="en-US" altLang="ko-Kore-KR" sz="2400" b="1" dirty="0"/>
              <a:t>with Super-Resolution </a:t>
            </a:r>
            <a:r>
              <a:rPr lang="en-US" altLang="ko-Kore-KR" sz="2400" b="1" dirty="0" err="1"/>
              <a:t>Upsampler</a:t>
            </a:r>
            <a:endParaRPr lang="en-US" altLang="ko-Kore-KR" sz="2400" b="1" dirty="0"/>
          </a:p>
        </p:txBody>
      </p: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24CB61B0-972C-CD16-4361-8D378E23D38D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38320775" y="15676506"/>
            <a:ext cx="6299188" cy="2276606"/>
            <a:chOff x="36177816" y="18990794"/>
            <a:chExt cx="5883544" cy="2276606"/>
          </a:xfrm>
        </p:grpSpPr>
        <p:grpSp>
          <p:nvGrpSpPr>
            <p:cNvPr id="334" name="그룹 333">
              <a:extLst>
                <a:ext uri="{FF2B5EF4-FFF2-40B4-BE49-F238E27FC236}">
                  <a16:creationId xmlns:a16="http://schemas.microsoft.com/office/drawing/2014/main" id="{929B6076-A737-48E4-3EED-F53ED8DA01B9}"/>
                </a:ext>
              </a:extLst>
            </p:cNvPr>
            <p:cNvGrpSpPr>
              <a:grpSpLocks/>
            </p:cNvGrpSpPr>
            <p:nvPr/>
          </p:nvGrpSpPr>
          <p:grpSpPr>
            <a:xfrm>
              <a:off x="36609537" y="19038016"/>
              <a:ext cx="4933441" cy="536028"/>
              <a:chOff x="29954482" y="13274421"/>
              <a:chExt cx="3593831" cy="536028"/>
            </a:xfrm>
          </p:grpSpPr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4AB6ED0C-96DC-E07F-C585-AFAA7EB4A535}"/>
                  </a:ext>
                </a:extLst>
              </p:cNvPr>
              <p:cNvSpPr/>
              <p:nvPr/>
            </p:nvSpPr>
            <p:spPr>
              <a:xfrm>
                <a:off x="29954482" y="13274421"/>
                <a:ext cx="2613600" cy="536028"/>
              </a:xfrm>
              <a:prstGeom prst="rect">
                <a:avLst/>
              </a:prstGeom>
              <a:solidFill>
                <a:srgbClr val="BB575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ore-KR" dirty="0"/>
                  <a:t>7</a:t>
                </a:r>
                <a:r>
                  <a:rPr kumimoji="1" lang="en-US" altLang="ko-KR" dirty="0"/>
                  <a:t>2.6%</a:t>
                </a:r>
                <a:endParaRPr kumimoji="1" lang="ko-Kore-KR" altLang="en-US" dirty="0"/>
              </a:p>
            </p:txBody>
          </p:sp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EB9F056D-E8CB-50A7-A017-1EDDDC492050}"/>
                  </a:ext>
                </a:extLst>
              </p:cNvPr>
              <p:cNvSpPr/>
              <p:nvPr/>
            </p:nvSpPr>
            <p:spPr>
              <a:xfrm>
                <a:off x="32561913" y="13274421"/>
                <a:ext cx="986400" cy="536028"/>
              </a:xfrm>
              <a:prstGeom prst="rect">
                <a:avLst/>
              </a:prstGeom>
              <a:solidFill>
                <a:srgbClr val="3A6E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/>
                  <a:t>27.4%</a:t>
                </a:r>
                <a:endParaRPr kumimoji="1" lang="ko-Kore-KR" altLang="en-US" dirty="0"/>
              </a:p>
            </p:txBody>
          </p:sp>
        </p:grp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51CF61C5-1A9A-E72D-25F0-91E2806A8024}"/>
                </a:ext>
              </a:extLst>
            </p:cNvPr>
            <p:cNvSpPr txBox="1"/>
            <p:nvPr/>
          </p:nvSpPr>
          <p:spPr>
            <a:xfrm rot="16200000">
              <a:off x="41402369" y="19166418"/>
              <a:ext cx="641268" cy="290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ore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CSD</a:t>
              </a:r>
              <a:endParaRPr lang="ko-Kore-KR" altLang="ko-Kore-K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701CA2D0-74AD-8326-4B6E-CB86518710B4}"/>
                </a:ext>
              </a:extLst>
            </p:cNvPr>
            <p:cNvGrpSpPr>
              <a:grpSpLocks/>
            </p:cNvGrpSpPr>
            <p:nvPr/>
          </p:nvGrpSpPr>
          <p:grpSpPr>
            <a:xfrm>
              <a:off x="36613249" y="19786569"/>
              <a:ext cx="4926017" cy="536028"/>
              <a:chOff x="29954482" y="13274421"/>
              <a:chExt cx="3588422" cy="536028"/>
            </a:xfrm>
          </p:grpSpPr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B7697F08-C052-AD50-FA18-C08E0B6E027D}"/>
                  </a:ext>
                </a:extLst>
              </p:cNvPr>
              <p:cNvSpPr/>
              <p:nvPr/>
            </p:nvSpPr>
            <p:spPr>
              <a:xfrm>
                <a:off x="29954482" y="13274421"/>
                <a:ext cx="2197628" cy="536028"/>
              </a:xfrm>
              <a:prstGeom prst="rect">
                <a:avLst/>
              </a:prstGeom>
              <a:solidFill>
                <a:srgbClr val="BB575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/>
                  <a:t>61.1%</a:t>
                </a:r>
                <a:endParaRPr kumimoji="1" lang="ko-Kore-KR" altLang="en-US" dirty="0"/>
              </a:p>
            </p:txBody>
          </p:sp>
          <p:sp>
            <p:nvSpPr>
              <p:cNvPr id="346" name="직사각형 345">
                <a:extLst>
                  <a:ext uri="{FF2B5EF4-FFF2-40B4-BE49-F238E27FC236}">
                    <a16:creationId xmlns:a16="http://schemas.microsoft.com/office/drawing/2014/main" id="{B426CB62-25C0-5177-094E-B7A9A9AF5341}"/>
                  </a:ext>
                </a:extLst>
              </p:cNvPr>
              <p:cNvSpPr/>
              <p:nvPr/>
            </p:nvSpPr>
            <p:spPr>
              <a:xfrm>
                <a:off x="32142506" y="13274421"/>
                <a:ext cx="1400398" cy="536028"/>
              </a:xfrm>
              <a:prstGeom prst="rect">
                <a:avLst/>
              </a:prstGeom>
              <a:solidFill>
                <a:srgbClr val="3A6E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/>
                  <a:t>38.9%</a:t>
                </a:r>
                <a:endParaRPr kumimoji="1" lang="ko-Kore-KR" altLang="en-US" dirty="0"/>
              </a:p>
            </p:txBody>
          </p:sp>
        </p:grpSp>
        <p:grpSp>
          <p:nvGrpSpPr>
            <p:cNvPr id="337" name="그룹 336">
              <a:extLst>
                <a:ext uri="{FF2B5EF4-FFF2-40B4-BE49-F238E27FC236}">
                  <a16:creationId xmlns:a16="http://schemas.microsoft.com/office/drawing/2014/main" id="{9B741172-4BFB-D7A5-6DF0-6D19FD2DC974}"/>
                </a:ext>
              </a:extLst>
            </p:cNvPr>
            <p:cNvGrpSpPr/>
            <p:nvPr/>
          </p:nvGrpSpPr>
          <p:grpSpPr>
            <a:xfrm>
              <a:off x="36608309" y="20542827"/>
              <a:ext cx="4935896" cy="536028"/>
              <a:chOff x="30437364" y="14917556"/>
              <a:chExt cx="4935896" cy="536028"/>
            </a:xfrm>
          </p:grpSpPr>
          <p:grpSp>
            <p:nvGrpSpPr>
              <p:cNvPr id="341" name="그룹 340">
                <a:extLst>
                  <a:ext uri="{FF2B5EF4-FFF2-40B4-BE49-F238E27FC236}">
                    <a16:creationId xmlns:a16="http://schemas.microsoft.com/office/drawing/2014/main" id="{E1A3B17D-B12A-6A33-D424-F78BBC6A1860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0437364" y="14917556"/>
                <a:ext cx="4935896" cy="536028"/>
                <a:chOff x="29954482" y="13274421"/>
                <a:chExt cx="3595620" cy="536028"/>
              </a:xfrm>
            </p:grpSpPr>
            <p:sp>
              <p:nvSpPr>
                <p:cNvPr id="343" name="직사각형 342">
                  <a:extLst>
                    <a:ext uri="{FF2B5EF4-FFF2-40B4-BE49-F238E27FC236}">
                      <a16:creationId xmlns:a16="http://schemas.microsoft.com/office/drawing/2014/main" id="{4C967ACB-3041-FC91-3126-7CCCA49DBC34}"/>
                    </a:ext>
                  </a:extLst>
                </p:cNvPr>
                <p:cNvSpPr/>
                <p:nvPr/>
              </p:nvSpPr>
              <p:spPr>
                <a:xfrm>
                  <a:off x="29954482" y="13274421"/>
                  <a:ext cx="3325290" cy="536028"/>
                </a:xfrm>
                <a:prstGeom prst="rect">
                  <a:avLst/>
                </a:prstGeom>
                <a:solidFill>
                  <a:srgbClr val="BB575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ko-KR" dirty="0"/>
                    <a:t>92.4%</a:t>
                  </a:r>
                  <a:endParaRPr kumimoji="1" lang="ko-Kore-KR" altLang="en-US" dirty="0"/>
                </a:p>
              </p:txBody>
            </p:sp>
            <p:sp>
              <p:nvSpPr>
                <p:cNvPr id="344" name="직사각형 343">
                  <a:extLst>
                    <a:ext uri="{FF2B5EF4-FFF2-40B4-BE49-F238E27FC236}">
                      <a16:creationId xmlns:a16="http://schemas.microsoft.com/office/drawing/2014/main" id="{C08B2B25-7185-83BF-9997-6BE898235211}"/>
                    </a:ext>
                  </a:extLst>
                </p:cNvPr>
                <p:cNvSpPr/>
                <p:nvPr/>
              </p:nvSpPr>
              <p:spPr>
                <a:xfrm>
                  <a:off x="33277365" y="13274421"/>
                  <a:ext cx="272737" cy="536028"/>
                </a:xfrm>
                <a:prstGeom prst="rect">
                  <a:avLst/>
                </a:prstGeom>
                <a:solidFill>
                  <a:srgbClr val="3A6EA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 dirty="0"/>
                </a:p>
              </p:txBody>
            </p:sp>
          </p:grp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5EF23037-CA18-3A7E-C3C8-F8B0A1CD61AE}"/>
                  </a:ext>
                </a:extLst>
              </p:cNvPr>
              <p:cNvSpPr txBox="1"/>
              <p:nvPr/>
            </p:nvSpPr>
            <p:spPr>
              <a:xfrm>
                <a:off x="34638618" y="15008344"/>
                <a:ext cx="720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kumimoji="1" lang="en-US" altLang="ko-KR" dirty="0">
                    <a:solidFill>
                      <a:schemeClr val="bg1"/>
                    </a:solidFill>
                  </a:rPr>
                  <a:t>7.6%</a:t>
                </a:r>
                <a:endParaRPr kumimoji="1" lang="ko-Kore-KR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9008B6D7-63AB-EABB-3A55-7F81A472FC8A}"/>
                </a:ext>
              </a:extLst>
            </p:cNvPr>
            <p:cNvSpPr txBox="1"/>
            <p:nvPr/>
          </p:nvSpPr>
          <p:spPr>
            <a:xfrm rot="16200000">
              <a:off x="41378857" y="19795575"/>
              <a:ext cx="881639" cy="4833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ore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InfEdit</a:t>
              </a:r>
              <a:r>
                <a:rPr lang="en-US" altLang="ko-Kore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br>
                <a:rPr lang="en-US" altLang="ko-Kore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ko-Kore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lang="en-US" altLang="ko-Kore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StableSR</a:t>
              </a:r>
              <a:endParaRPr lang="en-US" altLang="ko-Kore-K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4E402BA1-1CC7-64F3-0CA6-C90D75109AA5}"/>
                </a:ext>
              </a:extLst>
            </p:cNvPr>
            <p:cNvSpPr txBox="1"/>
            <p:nvPr/>
          </p:nvSpPr>
          <p:spPr>
            <a:xfrm rot="16200000">
              <a:off x="41376083" y="20582122"/>
              <a:ext cx="887188" cy="4833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ore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ProxEdit</a:t>
              </a:r>
              <a:r>
                <a:rPr lang="en-US" altLang="ko-Kore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br>
                <a:rPr lang="en-US" altLang="ko-Kore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ko-Kore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lang="en-US" altLang="ko-Kore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StableSR</a:t>
              </a:r>
              <a:endParaRPr lang="en-US" altLang="ko-Kore-K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554B523C-0E86-48F1-5C59-5795D7EFA955}"/>
                </a:ext>
              </a:extLst>
            </p:cNvPr>
            <p:cNvSpPr txBox="1"/>
            <p:nvPr/>
          </p:nvSpPr>
          <p:spPr>
            <a:xfrm rot="16200000">
              <a:off x="35661275" y="19892729"/>
              <a:ext cx="14024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ore-K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EditCrafter</a:t>
              </a:r>
              <a:endParaRPr lang="ko-Kore-KR" altLang="ko-Kore-K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9" name="Rounded Rectangle 42">
            <a:extLst>
              <a:ext uri="{FF2B5EF4-FFF2-40B4-BE49-F238E27FC236}">
                <a16:creationId xmlns:a16="http://schemas.microsoft.com/office/drawing/2014/main" id="{C3B8EF3A-8EC0-DC36-A06E-A5ECECF9FF80}"/>
              </a:ext>
            </a:extLst>
          </p:cNvPr>
          <p:cNvSpPr/>
          <p:nvPr/>
        </p:nvSpPr>
        <p:spPr>
          <a:xfrm flipV="1">
            <a:off x="29490778" y="20264390"/>
            <a:ext cx="14043529" cy="1593622"/>
          </a:xfrm>
          <a:prstGeom prst="roundRect">
            <a:avLst>
              <a:gd name="adj" fmla="val 212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1500"/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BAA753F7-DA79-358F-5AC1-8A1445F25BCB}"/>
              </a:ext>
            </a:extLst>
          </p:cNvPr>
          <p:cNvSpPr txBox="1"/>
          <p:nvPr/>
        </p:nvSpPr>
        <p:spPr>
          <a:xfrm>
            <a:off x="29489200" y="20314604"/>
            <a:ext cx="140435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[1] Kim et al., Collaborative Score Distillation for Consistent Visual Synthesis, </a:t>
            </a:r>
            <a:r>
              <a:rPr lang="en" altLang="ko-Kore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2023.</a:t>
            </a:r>
          </a:p>
          <a:p>
            <a:r>
              <a:rPr lang="en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[2] He et al., </a:t>
            </a:r>
            <a:r>
              <a:rPr lang="en" altLang="ko-Kore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ScaleCrafter</a:t>
            </a:r>
            <a:r>
              <a:rPr lang="en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Tuning-free Higher-Resolution Visual Generation with Diffusion Models, ICLR 2024.</a:t>
            </a:r>
          </a:p>
          <a:p>
            <a:r>
              <a:rPr lang="en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[3] Wang et al., Exploiting Diffusion Prior for Real-World Image Super-Resolution, IJCV 2024.</a:t>
            </a:r>
          </a:p>
          <a:p>
            <a:r>
              <a:rPr lang="en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[4] Xu et al., Inversion-Free Image Editing with Natural Language. In CVPR, 2024. </a:t>
            </a:r>
          </a:p>
          <a:p>
            <a:r>
              <a:rPr lang="en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[5] Han et al., </a:t>
            </a:r>
            <a:r>
              <a:rPr lang="en" altLang="ko-Kore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ProxEdit</a:t>
            </a:r>
            <a:r>
              <a:rPr lang="en" altLang="ko-Kore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Improving Tuning-Free Real Image Editing with Proximal Guidance. In WACV, 2024.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F30787ED-4B02-2BFC-BE30-F0B420C91B32}"/>
              </a:ext>
            </a:extLst>
          </p:cNvPr>
          <p:cNvSpPr txBox="1"/>
          <p:nvPr/>
        </p:nvSpPr>
        <p:spPr>
          <a:xfrm>
            <a:off x="38669296" y="9904661"/>
            <a:ext cx="391566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" altLang="ko-Kore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</p:txBody>
      </p:sp>
      <p:pic>
        <p:nvPicPr>
          <p:cNvPr id="352" name="그림 351" descr="마인즈랩, Chat GPT 활용한 두 번째 마음톤 대회개최... 참여자격 제한 없어">
            <a:extLst>
              <a:ext uri="{FF2B5EF4-FFF2-40B4-BE49-F238E27FC236}">
                <a16:creationId xmlns:a16="http://schemas.microsoft.com/office/drawing/2014/main" id="{2400A82C-0DB1-D0E2-56B3-E5841199DDA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109074" y="1850125"/>
            <a:ext cx="1800000" cy="587077"/>
          </a:xfrm>
          <a:prstGeom prst="rect">
            <a:avLst/>
          </a:prstGeom>
        </p:spPr>
      </p:pic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F1C90FFD-0F1F-2CDC-2E29-1C6BE2FE2CAE}"/>
              </a:ext>
            </a:extLst>
          </p:cNvPr>
          <p:cNvSpPr>
            <a:spLocks noChangeAspect="1"/>
          </p:cNvSpPr>
          <p:nvPr/>
        </p:nvSpPr>
        <p:spPr>
          <a:xfrm>
            <a:off x="31613856" y="4733195"/>
            <a:ext cx="1080000" cy="1080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2DA8B0D8-B63B-2011-CBC2-BCE79156B365}"/>
              </a:ext>
            </a:extLst>
          </p:cNvPr>
          <p:cNvSpPr>
            <a:spLocks noChangeAspect="1"/>
          </p:cNvSpPr>
          <p:nvPr/>
        </p:nvSpPr>
        <p:spPr>
          <a:xfrm>
            <a:off x="40800528" y="4668405"/>
            <a:ext cx="1080000" cy="108000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361" name="그림 360">
            <a:extLst>
              <a:ext uri="{FF2B5EF4-FFF2-40B4-BE49-F238E27FC236}">
                <a16:creationId xmlns:a16="http://schemas.microsoft.com/office/drawing/2014/main" id="{E080D9AC-CBA3-FA8C-FB25-852C4384011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58" t="11675" r="32442" b="63325"/>
          <a:stretch>
            <a:fillRect/>
          </a:stretch>
        </p:blipFill>
        <p:spPr>
          <a:xfrm>
            <a:off x="34092235" y="4229251"/>
            <a:ext cx="2160000" cy="2160000"/>
          </a:xfrm>
          <a:custGeom>
            <a:avLst/>
            <a:gdLst>
              <a:gd name="csX0" fmla="*/ 0 w 1080000"/>
              <a:gd name="csY0" fmla="*/ 0 h 1080000"/>
              <a:gd name="csX1" fmla="*/ 1080000 w 1080000"/>
              <a:gd name="csY1" fmla="*/ 0 h 1080000"/>
              <a:gd name="csX2" fmla="*/ 1080000 w 1080000"/>
              <a:gd name="csY2" fmla="*/ 1080000 h 1080000"/>
              <a:gd name="csX3" fmla="*/ 0 w 1080000"/>
              <a:gd name="csY3" fmla="*/ 1080000 h 10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80000" y="1080000"/>
                </a:lnTo>
                <a:lnTo>
                  <a:pt x="0" y="1080000"/>
                </a:lnTo>
                <a:close/>
              </a:path>
            </a:pathLst>
          </a:custGeom>
        </p:spPr>
      </p:pic>
      <p:pic>
        <p:nvPicPr>
          <p:cNvPr id="362" name="그림 361">
            <a:extLst>
              <a:ext uri="{FF2B5EF4-FFF2-40B4-BE49-F238E27FC236}">
                <a16:creationId xmlns:a16="http://schemas.microsoft.com/office/drawing/2014/main" id="{FE679590-4A6B-356E-87E9-8302A796734B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2" t="10175" r="32498" b="64825"/>
          <a:stretch>
            <a:fillRect/>
          </a:stretch>
        </p:blipFill>
        <p:spPr>
          <a:xfrm>
            <a:off x="36816357" y="4229107"/>
            <a:ext cx="2160000" cy="2160000"/>
          </a:xfrm>
          <a:custGeom>
            <a:avLst/>
            <a:gdLst>
              <a:gd name="csX0" fmla="*/ 0 w 1080000"/>
              <a:gd name="csY0" fmla="*/ 0 h 1080000"/>
              <a:gd name="csX1" fmla="*/ 1080000 w 1080000"/>
              <a:gd name="csY1" fmla="*/ 0 h 1080000"/>
              <a:gd name="csX2" fmla="*/ 1080000 w 1080000"/>
              <a:gd name="csY2" fmla="*/ 1080000 h 1080000"/>
              <a:gd name="csX3" fmla="*/ 0 w 1080000"/>
              <a:gd name="csY3" fmla="*/ 1080000 h 10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80000" y="1080000"/>
                </a:lnTo>
                <a:lnTo>
                  <a:pt x="0" y="1080000"/>
                </a:lnTo>
                <a:close/>
              </a:path>
            </a:pathLst>
          </a:custGeom>
        </p:spPr>
      </p:pic>
      <p:cxnSp>
        <p:nvCxnSpPr>
          <p:cNvPr id="363" name="직선 연결선[R] 362">
            <a:extLst>
              <a:ext uri="{FF2B5EF4-FFF2-40B4-BE49-F238E27FC236}">
                <a16:creationId xmlns:a16="http://schemas.microsoft.com/office/drawing/2014/main" id="{8C62B3CC-287B-77EA-EC55-8D473BBB81A9}"/>
              </a:ext>
            </a:extLst>
          </p:cNvPr>
          <p:cNvCxnSpPr>
            <a:cxnSpLocks/>
            <a:endCxn id="361" idx="0"/>
          </p:cNvCxnSpPr>
          <p:nvPr/>
        </p:nvCxnSpPr>
        <p:spPr>
          <a:xfrm flipV="1">
            <a:off x="32693675" y="4229251"/>
            <a:ext cx="1398560" cy="50160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4" name="직선 연결선[R] 363">
            <a:extLst>
              <a:ext uri="{FF2B5EF4-FFF2-40B4-BE49-F238E27FC236}">
                <a16:creationId xmlns:a16="http://schemas.microsoft.com/office/drawing/2014/main" id="{3DA9E453-FB04-FFFF-4C04-386D85299060}"/>
              </a:ext>
            </a:extLst>
          </p:cNvPr>
          <p:cNvCxnSpPr>
            <a:cxnSpLocks/>
            <a:endCxn id="361" idx="3"/>
          </p:cNvCxnSpPr>
          <p:nvPr/>
        </p:nvCxnSpPr>
        <p:spPr>
          <a:xfrm>
            <a:off x="32693811" y="5817937"/>
            <a:ext cx="1398424" cy="57131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1" name="직선 연결선[R] 370">
            <a:extLst>
              <a:ext uri="{FF2B5EF4-FFF2-40B4-BE49-F238E27FC236}">
                <a16:creationId xmlns:a16="http://schemas.microsoft.com/office/drawing/2014/main" id="{985D2D77-8279-DFAA-ADF3-9B55078E891B}"/>
              </a:ext>
            </a:extLst>
          </p:cNvPr>
          <p:cNvCxnSpPr>
            <a:cxnSpLocks/>
            <a:stCxn id="362" idx="1"/>
          </p:cNvCxnSpPr>
          <p:nvPr/>
        </p:nvCxnSpPr>
        <p:spPr>
          <a:xfrm>
            <a:off x="38976357" y="4229107"/>
            <a:ext cx="1819057" cy="4358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2" name="직선 연결선[R] 371">
            <a:extLst>
              <a:ext uri="{FF2B5EF4-FFF2-40B4-BE49-F238E27FC236}">
                <a16:creationId xmlns:a16="http://schemas.microsoft.com/office/drawing/2014/main" id="{8D4FCFEF-C869-5381-407A-9075B35ADF11}"/>
              </a:ext>
            </a:extLst>
          </p:cNvPr>
          <p:cNvCxnSpPr>
            <a:cxnSpLocks/>
            <a:stCxn id="246" idx="1"/>
          </p:cNvCxnSpPr>
          <p:nvPr/>
        </p:nvCxnSpPr>
        <p:spPr>
          <a:xfrm flipV="1">
            <a:off x="38974338" y="5749871"/>
            <a:ext cx="1817201" cy="63172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2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0"/>
    </p:bld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3714</TotalTime>
  <Words>780</Words>
  <Application>Microsoft Macintosh PowerPoint</Application>
  <PresentationFormat>사용자 지정</PresentationFormat>
  <Paragraphs>107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BM YEONSUNG OTF</vt:lpstr>
      <vt:lpstr>맑은 고딕</vt:lpstr>
      <vt:lpstr>Aptos</vt:lpstr>
      <vt:lpstr>Aptos Display</vt:lpstr>
      <vt:lpstr>Arial</vt:lpstr>
      <vt:lpstr>Cambria Math</vt:lpstr>
      <vt:lpstr>Ink Free</vt:lpstr>
      <vt:lpstr>Roboto</vt:lpstr>
      <vt:lpstr>Times New Roman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Wonkwang Lee (이원광)</dc:creator>
  <cp:lastModifiedBy>kkh4022</cp:lastModifiedBy>
  <cp:revision>266</cp:revision>
  <dcterms:created xsi:type="dcterms:W3CDTF">2025-03-07T17:47:11Z</dcterms:created>
  <dcterms:modified xsi:type="dcterms:W3CDTF">2026-05-20T06:52:50Z</dcterms:modified>
</cp:coreProperties>
</file>